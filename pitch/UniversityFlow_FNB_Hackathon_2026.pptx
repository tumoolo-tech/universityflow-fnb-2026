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9d18904-6828-d5bc-27a4-837b4d039665}">
          <p14:sldIdLst>
            <p14:sldId id="256"/>
          </p14:sldIdLst>
        </p14:section>
        <p14:section name="The problem" id="{1e450471-25a3-9594-d20d-e67e62fb7f93}">
          <p14:sldIdLst>
            <p14:sldId id="257"/>
            <p14:sldId id="258"/>
            <p14:sldId id="259"/>
            <p14:sldId id="260"/>
            <p14:sldId id="261"/>
          </p14:sldIdLst>
        </p14:section>
        <p14:section name="The solution" id="{7bee6be7-fda9-e880-b228-0f0b897c4c11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2"/>
            <p14:sldId id="273"/>
            <p14:sldId id="274"/>
            <p14:sldId id="275"/>
            <p14:sldId id="276"/>
          </p14:sldIdLst>
        </p14:section>
        <p14:section name="Care" id="{1691df85-8973-0428-4339-01f584030626}">
          <p14:sldIdLst>
            <p14:sldId id="270"/>
            <p14:sldId id="271"/>
          </p14:sldIdLst>
        </p14:section>
        <p14:section name="The demo" id="{989e69c0-e995-b612-a14f-0a47ba9ae358}">
          <p14:sldIdLst>
            <p14:sldId id="277"/>
            <p14:sldId id="278"/>
          </p14:sldIdLst>
        </p14:section>
        <p14:section name="The value" id="{c509b3c7-823c-a721-d79f-7cb9530919de}">
          <p14:sldIdLst>
            <p14:sldId id="279"/>
            <p14:sldId id="280"/>
            <p14:sldId id="281"/>
          </p14:sldIdLst>
        </p14:section>
        <p14:section name="The plan" id="{4d08e03f-b5f0-bddd-57bd-f642098164d0}">
          <p14:sldIdLst>
            <p14:sldId id="282"/>
          </p14:sldIdLst>
        </p14:section>
        <p14:section name="Closing" id="{e458b8ce-6c06-bb35-3f7c-5a2365144845}">
          <p14:sldIdLst>
            <p14:sldId id="283"/>
          </p14:sldIdLst>
        </p14:section>
        <p14:section name="Appendix" id="{c6edf7e4-e24d-d09c-2a36-e8673092211c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journey: Grade 10, university, graduation. Most help stops at the application. UniversityFlow is the friend who walks the whole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path left to right. Every stop is a place a learner can fall out for lack of information, a missed date, or feeling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turn of the story: from the dark problem slides to the brand's mauve. Code decides (scores, requirements, deadlines come from checked records); the AI explains them in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journey as one story. Naledi is the judge demo's Grade 11 learner (apps/web/lib/server/demo/personas.ts): goal UJ BCom Accounting, shortlist Wits BCom and UJ's Diploma in Accountancy. The exam rhythm is packages/messaging cadence.ts (at most one a 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carries an honest status. Built means built, tested and audited, running on local stand-ins until the owner connects the real accounts (SMS, WhatsApp, the production AI key). Next means proposed and waiting for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agent's written rules, tested by the eval suite. The wording of the guidance still goes to a clinician or Childline for review (finding A10-53).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Built: packages/agent crisis.ts (a deterministic check on every message before any model), the crisis card, the red-team suite in packages/evals (hard rule 7). A design principle is not a clinical guarantee: the reviews above are owed by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code decides: a wrong requirement or deadline costs a learner a year, so every forecast here can be explained and checked. No predicted exam mark is ever shown as a promise (Phase 7, D8). A Bayesian Knowledge Tracing model replaces the v1 heuristic only once it predicts the next test better on consented, de-identified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Repository: planning.md §16 (stack and structure) and §16.4 (hard rules). The demo runs on its own Vercel project with a Supabase database and made-up learners only; production is Vercel cpt1 with RDS and S3 in af-south-1. Test count: the per-package suites in status.md (web 1887, catalogue 555, db 565, native 470, agent 390, messaging 311, documents 302, admissions 299, tokens 289 and more).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takeaway: it already works across the whole journey, on made-up learners, with every safety rule on. Nothing real is at stake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destination: not an application sent, a learner who finishes. The ask is what stands between the built product and real learners (status.md, Blocked 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E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umom\Tumoolo-Tech\UniversityFlow-deck\pitch\images\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0"/>
            <a:ext cx="5516575" cy="396849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UniversityFlow  ·  Tumo Mogame, Tumoolo  ·  FNB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PANEL_R">
    <p:bg>
      <p:bgPr>
        <a:solidFill>
          <a:srgbClr val="0E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6949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UniversityFlow  ·  Tumo Mogame, Tumoolo  ·  FNB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040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UVE">
    <p:bg>
      <p:bgPr>
        <a:solidFill>
          <a:srgbClr val="C99B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1A1219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B35"/>
                </a:solidFill>
              </a:rPr>
              <a:t>UniversityFlow  ·  Tumo Mogame, Tumoolo  ·  FNB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UVE_PANEL_L">
    <p:bg>
      <p:bgPr>
        <a:solidFill>
          <a:srgbClr val="C99B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1A1219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475488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B35"/>
                </a:solidFill>
              </a:rPr>
              <a:t>UniversityFlow  ·  Tumo Mogame, Tumoolo  ·  FNB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UVE_PANEL_R">
    <p:bg>
      <p:bgPr>
        <a:solidFill>
          <a:srgbClr val="C99B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1A1219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69494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B35"/>
                </a:solidFill>
              </a:rPr>
              <a:t>UniversityFlow  ·  Tumo Mogame, Tumoolo  ·  FNB Hackathon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040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umom\Tumoolo-Tech\UniversityFlow-deck\pitch\images\g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0"/>
            <a:ext cx="5516575" cy="3968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FNB HACKATHON 2026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Grade 10 to graduation.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companion for South African learners. It checks every university's own rules, keeps the dates, and stays to the last exam.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Tumo Mogame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Tumoolo</a:t>
            </a:r>
            <a:endParaRPr lang="en-US" sz="1300" dirty="0"/>
          </a:p>
        </p:txBody>
      </p:sp>
      <p:pic>
        <p:nvPicPr>
          <p:cNvPr id="9" name="Image 1" descr="Two Grade 10 learners with school bags and boo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9000"/>
            <a:ext cx="3134945" cy="22402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6053328"/>
            <a:ext cx="31349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10</a:t>
            </a:r>
            <a:endParaRPr lang="en-US" sz="1200" dirty="0"/>
          </a:p>
        </p:txBody>
      </p:sp>
      <p:pic>
        <p:nvPicPr>
          <p:cNvPr id="11" name="Image 2" descr="Two university students holding boo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665" y="3429000"/>
            <a:ext cx="3313270" cy="22402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23665" y="6053328"/>
            <a:ext cx="3313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200" dirty="0"/>
          </a:p>
        </p:txBody>
      </p:sp>
      <p:pic>
        <p:nvPicPr>
          <p:cNvPr id="13" name="Image 3" descr="Two graduates in gowns and caps, celebra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55" y="3429000"/>
            <a:ext cx="2259398" cy="22402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39855" y="6053328"/>
            <a:ext cx="22593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GRADUATION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486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10058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4630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9202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23774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8346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2918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490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2062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634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1206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5778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0350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922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9494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4066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8638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3210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7782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2354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6926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1498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6070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1064240" y="5875020"/>
            <a:ext cx="292608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521440" y="5875020"/>
            <a:ext cx="118872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 ·  THE JOURNEY TODAY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years where learners fall through the cracks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9264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8700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8136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75720" y="3493008"/>
            <a:ext cx="365760" cy="54864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35584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9 TO 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258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Subject choice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06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Maths or Maths Literacy decides which degrees stay open.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37560" y="335584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34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834640" y="2258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Results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2834640" y="4206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Many universities make early offers on final Grade 11 marks.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23560" y="335584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20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2258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 and fund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4206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Six universities, six ways to score, six closing dates. Then NSFAS.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09560" y="335584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06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FIRST YEAR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06640" y="2258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4206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city, registration, modules. Many leave after year one.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195560" y="3355848"/>
            <a:ext cx="329184" cy="329184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9264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YEAR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22585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Finish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4206240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DP, subminimum, supplementary: learned the day it costs a year.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"They may not know what an APS is, which subjects close which doors, when applications close, or what NSFAS needs from them."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Quote: UniversityFlow plan, §1.1 (who it's for). The admission rules are summarised from the six universities' prospectuses (plan §2).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 ·  MATRIC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Under half earn a bachelor pass</a:t>
            </a:r>
            <a:endParaRPr lang="en-US" sz="3200" dirty="0"/>
          </a:p>
        </p:txBody>
      </p:sp>
      <p:pic>
        <p:nvPicPr>
          <p:cNvPr id="4" name="Image 0" descr="Learners in a classroom, seen from behind, facing a teach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6002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2025: 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746 110 full-time candidates wrote.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345 857 (46.4%)</a:t>
            </a:r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earned a bachelor pass, the pass needed to apply for a degree.</a:t>
            </a:r>
            <a:endParaRPr lang="en-US" sz="1600" dirty="0"/>
          </a:p>
        </p:txBody>
      </p:sp>
      <p:pic>
        <p:nvPicPr>
          <p:cNvPr id="6" name="Image 1" descr="Bar chart, 2019 to 2025: full-time candidates who wrote the NSC and those who achieved a bachelor pass. Bachelor pass rate: 36.9%, 36.4%, 36.4%, 38.4%, 40.9%, 47.8%, 46.4%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6766560" cy="365668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943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Source: DBE, NSC Examination Reports 2021, 2024 and 2025 (full-time candidates). Labels show the bachelor-pass rate.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040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03  ·  MATHEMATICS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Maths closes doors early</a:t>
            </a:r>
            <a:endParaRPr lang="en-US" sz="3200" dirty="0"/>
          </a:p>
        </p:txBody>
      </p:sp>
      <p:pic>
        <p:nvPicPr>
          <p:cNvPr id="4" name="Image 0" descr="A scientific calculator on a page of maths work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254 415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2128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wrote Mathematics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477 160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22128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wrote Maths Literacy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25.1%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2128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Maths candidates scored 50% or more</a:t>
            </a:r>
            <a:endParaRPr lang="en-US" sz="1400" dirty="0"/>
          </a:p>
        </p:txBody>
      </p:sp>
      <p:sp>
        <p:nvSpPr>
          <p:cNvPr id="11" name="mathsChart"/>
          <p:cNvSpPr/>
          <p:nvPr/>
        </p:nvSpPr>
        <p:spPr>
          <a:xfrm>
            <a:off x="4754880" y="2880360"/>
            <a:ext cx="6903720" cy="3017520"/>
          </a:xfrm>
          <a:prstGeom prst="roundRect">
            <a:avLst>
              <a:gd name="adj" fmla="val 3636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3017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NSC 2025, full-time candidates</a:t>
            </a:r>
            <a:endParaRPr lang="en-US" sz="1300" dirty="0"/>
          </a:p>
        </p:txBody>
      </p:sp>
      <p:pic>
        <p:nvPicPr>
          <p:cNvPr id="13" name="Image 1" descr="Bar chart, NSC 2025: 746 110 wrote the NSC, 254 415 wrote Mathematics, 162 947 scored 30% or more, 63 813 scored 50% or more, 34 243 scored 60% or mor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310128"/>
            <a:ext cx="6583680" cy="2514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594360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Source: DBE, 2025 NSC Examination Report (Tables 1, 2.1, 3, 6.3.8). Subjects are chosen before Grade 10; many science, engineering and commerce degrees ask for Mathematics.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 ·  UNIVERSITY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in is only half the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100 who started a three-year degree in 2015</a:t>
            </a:r>
            <a:endParaRPr lang="en-US" sz="1500" dirty="0"/>
          </a:p>
        </p:txBody>
      </p:sp>
      <p:pic>
        <p:nvPicPr>
          <p:cNvPr id="5" name="Image 0" descr="One hundred squares: 29 graduated in 3 years, 38 more by year 6, 20 dropped out by year 6, 13 neithe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7400"/>
            <a:ext cx="35661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434840" y="217627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21031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28.6%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80060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graduated in three years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30449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C99BB8"/>
          </a:solidFill>
          <a:ln w="12700">
            <a:solidFill>
              <a:srgbClr val="C99B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38.4%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more by year 6 (67.0% in all)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34840" y="391363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8404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20.2%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4251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dropped out by year 6, 13.9% of them after year one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434840" y="478231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6E6875"/>
          </a:solidFill>
          <a:ln w="12700">
            <a:solidFill>
              <a:srgbClr val="6E68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4709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12.8%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5120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had neither graduated nor dropped out by year 6</a:t>
            </a:r>
            <a:endParaRPr lang="en-US" sz="1300" dirty="0"/>
          </a:p>
        </p:txBody>
      </p:sp>
      <p:sp>
        <p:nvSpPr>
          <p:cNvPr id="18" name="cohorts"/>
          <p:cNvSpPr/>
          <p:nvPr/>
        </p:nvSpPr>
        <p:spPr>
          <a:xfrm>
            <a:off x="7726680" y="1645920"/>
            <a:ext cx="3886200" cy="4069080"/>
          </a:xfrm>
          <a:prstGeom prst="roundRect">
            <a:avLst>
              <a:gd name="adj" fmla="val 2824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0" y="18105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Finishing on time, by intake</a:t>
            </a:r>
            <a:endParaRPr lang="en-US" sz="1500" dirty="0"/>
          </a:p>
        </p:txBody>
      </p:sp>
      <p:pic>
        <p:nvPicPr>
          <p:cNvPr id="20" name="Image 1" descr="Three-year degrees: graduated in 3 years 20.9%, 26.8%, 28.3%, 28.6% for the 2011, 2013, 2014, 2015 intakes; graduated by year 6 54.6%, 63.9%, 66.0%, 67.0%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94560"/>
            <a:ext cx="3703320" cy="238070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955280" y="4709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Better each year, but fewer than 3 in 10 finish on time.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Source: DHET, 2000 to 2019 First Time Entering Undergraduate Cohort Studies (2022), Table 28: three-year degrees, contact and distance (includes UNISA). Squares rounded; labels exact.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 ·  MONEY AND WORK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Funding and jobs raise the stakes</a:t>
            </a:r>
            <a:endParaRPr lang="en-US" sz="3200" dirty="0"/>
          </a:p>
        </p:txBody>
      </p:sp>
      <p:sp>
        <p:nvSpPr>
          <p:cNvPr id="4" name="stake0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593 543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 students funded by NSFAS in 2025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R47.86 billion paid out for them that year.</a:t>
            </a:r>
            <a:endParaRPr lang="en-US" sz="1400" dirty="0"/>
          </a:p>
        </p:txBody>
      </p:sp>
      <p:sp>
        <p:nvSpPr>
          <p:cNvPr id="9" name="stake1"/>
          <p:cNvSpPr/>
          <p:nvPr/>
        </p:nvSpPr>
        <p:spPr>
          <a:xfrm>
            <a:off x="429768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R350 000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household income a year: the NSFAS limit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R600 000 for students with a disability. Applying is free.</a:t>
            </a:r>
            <a:endParaRPr lang="en-US" sz="1400" dirty="0"/>
          </a:p>
        </p:txBody>
      </p:sp>
      <p:sp>
        <p:nvSpPr>
          <p:cNvPr id="14" name="stake2"/>
          <p:cNvSpPr/>
          <p:nvPr/>
        </p:nvSpPr>
        <p:spPr>
          <a:xfrm>
            <a:off x="8046720" y="1783080"/>
            <a:ext cx="3520440" cy="3063240"/>
          </a:xfrm>
          <a:prstGeom prst="roundRect">
            <a:avLst>
              <a:gd name="adj" fmla="val 358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62.8%</a:t>
            </a:r>
            <a:endParaRPr lang="en-US" sz="4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337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unemployment rate for young people aged 15 to 24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4023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Q2 2026. 3.8 million are not in work, education or training.</a:t>
            </a:r>
            <a:endParaRPr lang="en-US" sz="14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206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51206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UniversityFlow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is built so the learner who gets in stays in, and finishes.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Sources: Minister of Higher Education, reply to Parliament NW874 (2026, via PMG); NSFAS criteria as published by universities (e.g. Rhodes); Stats SA QLFS Q2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INTRODUCING</a:t>
            </a:r>
            <a:endParaRPr lang="en-US" sz="1200" dirty="0"/>
          </a:p>
        </p:txBody>
      </p:sp>
      <p:pic>
        <p:nvPicPr>
          <p:cNvPr id="3" name="Image 0" descr="A smiling graduate in a gown with a purple hood, framing the camera with his hand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85455" y="0"/>
            <a:ext cx="420624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0972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pPr indent="0" marL="0">
              <a:buNone/>
            </a:pPr>
            <a:r>
              <a:rPr lang="en-US" sz="66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</a:t>
            </a:r>
            <a:endParaRPr lang="en-US" sz="6600" dirty="0"/>
          </a:p>
        </p:txBody>
      </p:sp>
      <p:sp>
        <p:nvSpPr>
          <p:cNvPr id="5" name="Shape 2"/>
          <p:cNvSpPr/>
          <p:nvPr/>
        </p:nvSpPr>
        <p:spPr>
          <a:xfrm>
            <a:off x="5486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58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202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774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206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78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922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49440" y="248716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06640" y="2487168"/>
            <a:ext cx="91440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27889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friend from Grade 10 to graduation.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474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 checks a learner's marks against each university's own rules, keeps every date, explains funding, stays close through the exams, and keeps going after the offer: arrival, modules, every year to the last exam.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0749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 decides. The AI explains. A person is always there.</a:t>
            </a:r>
            <a:endParaRPr lang="en-US" sz="2000" dirty="0"/>
          </a:p>
        </p:txBody>
      </p:sp>
      <p:sp>
        <p:nvSpPr>
          <p:cNvPr id="25" name="Text 0"/>
          <p:cNvSpPr/>
          <p:nvPr>
            <p:ph idx="101" type="title" hasCustomPrompt="1"/>
          </p:nvPr>
        </p:nvSpPr>
        <p:spPr>
          <a:xfrm>
            <a:off x="548640" y="658368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0408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 ·  ONE LEARNER'S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Naledi, 16: the first in her family to aim for university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514600"/>
            <a:ext cx="12191695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0" y="2766060"/>
            <a:ext cx="274320" cy="457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Her report, read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" y="262432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She takes a photo of her report. Each mark is read, then confirmed by her. She sees what she is on track for, what is close, and a Plan B.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42316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242316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goal she can see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468880" y="262432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2316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BCom Accounting at UJ. What I need gives the mark to aim for in each subject. Her plan map ticks off each step.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9768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Applied on time, for free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43400" y="262432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9768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checklist and closing date for UJ and Wits, her NSFAS documents ready, and a warning: nobody can sell her a place.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12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Through the exams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17920" y="262432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countdown to each paper, at most one message a day, and care first on the night she says she is not coping.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04672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JANUARY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04672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first week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092440" y="262432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04672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She accepts UJ's offer. A first-week checklist, the campus tour, and her modules checked before the last day to change them.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92124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YEAR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921240" y="19202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module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966960" y="2624328"/>
            <a:ext cx="329184" cy="329184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921240" y="324612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each module is marked, her DP, the exam mark she still needs, free books. Then the next year, to graduation.</a:t>
            </a:r>
            <a:endParaRPr lang="en-US" sz="1300" dirty="0"/>
          </a:p>
        </p:txBody>
      </p:sp>
      <p:sp>
        <p:nvSpPr>
          <p:cNvPr id="55" name="storyNote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step above is built and on the live demo. Naledi is made up, and so is everything she enters: try her yourself.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07  ·  HOW IT WORKS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companion for every stop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240280"/>
            <a:ext cx="3200400" cy="3200400"/>
          </a:xfrm>
          <a:prstGeom prst="ellipse">
            <a:avLst/>
          </a:prstGeom>
          <a:ln w="38100">
            <a:solidFill>
              <a:srgbClr val="1A121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178308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pPr algn="ctr" indent="0" marL="0">
              <a:buNone/>
            </a:pPr>
            <a:r>
              <a:rPr lang="en-US" sz="2200" b="1" i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1828800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A121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9776" y="20482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64408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082201" y="2934511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A121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57" y="3153967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86289" y="28156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500894" y="4723589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A121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350" y="4943045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4982" y="46047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619746" y="4723589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A121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202" y="4943045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323834" y="460471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038439" y="2934511"/>
            <a:ext cx="822960" cy="822960"/>
          </a:xfrm>
          <a:prstGeom prst="ellipse">
            <a:avLst/>
          </a:prstGeom>
          <a:solidFill>
            <a:schemeClr val="bg1"/>
          </a:solidFill>
          <a:ln w="31750">
            <a:solidFill>
              <a:srgbClr val="1A1219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895" y="3153967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742527" y="281563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59436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 School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7772400" y="164592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Marks checked against each university's rules: qualify now, close, or Plan B. Subjects that keep doors open.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5943600" y="20574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943600" y="20574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594360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 Apply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0" y="251460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checklist and closing date per university. NSFAS: who qualifies, the documents, the free application.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943600" y="292608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943600" y="292608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594360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 Matric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0" y="33832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goal, the exam timetable, reminders and care through the exams. Re-checks after each report.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943600" y="3794760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943600" y="379476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ON STAND-INS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5943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 Arrive</a:t>
            </a:r>
            <a:endParaRPr lang="en-US" sz="19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0" y="425196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Offers, campus, the first week, and modules checked against the published curriculum.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5943600" y="466344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943600" y="466344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5943600" y="5120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 University</a:t>
            </a:r>
            <a:endParaRPr lang="en-US" sz="1900" dirty="0"/>
          </a:p>
        </p:txBody>
      </p:sp>
      <p:sp>
        <p:nvSpPr>
          <p:cNvPr id="38" name="Text 31"/>
          <p:cNvSpPr txBox="1"/>
          <p:nvPr/>
        </p:nvSpPr>
        <p:spPr>
          <a:xfrm>
            <a:off x="7772400" y="512064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cards, the mark calculator, free books, plan maps and My CV now. Next: a study coach.</a:t>
            </a:r>
            <a:endParaRPr lang="en-US" sz="1350" dirty="0"/>
          </a:p>
        </p:txBody>
      </p:sp>
      <p:sp>
        <p:nvSpPr>
          <p:cNvPr id="39" name="Shape 32"/>
          <p:cNvSpPr/>
          <p:nvPr/>
        </p:nvSpPr>
        <p:spPr>
          <a:xfrm>
            <a:off x="5943600" y="55321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943600" y="55321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08  ·  THE CHALLENGE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Access to higher education: five focus areas, answered</a:t>
            </a:r>
            <a:endParaRPr lang="en-US" sz="3200" dirty="0"/>
          </a:p>
        </p:txBody>
      </p:sp>
      <p:sp>
        <p:nvSpPr>
          <p:cNvPr id="4" name="focus0"/>
          <p:cNvSpPr/>
          <p:nvPr/>
        </p:nvSpPr>
        <p:spPr>
          <a:xfrm>
            <a:off x="548640" y="164592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Applications, bursaries and NSFAS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1645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course scored the university's own way, a checklist and closing date each, NSFAS steps and the N+ rule, scam warnings.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64692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 and fund</a:t>
            </a:r>
            <a:endParaRPr lang="en-US" sz="1200" dirty="0"/>
          </a:p>
        </p:txBody>
      </p:sp>
      <p:sp>
        <p:nvSpPr>
          <p:cNvPr id="9" name="focus1"/>
          <p:cNvSpPr/>
          <p:nvPr/>
        </p:nvSpPr>
        <p:spPr>
          <a:xfrm>
            <a:off x="548640" y="2496312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7919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4963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Cost planning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249631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NSFAS pays and who qualifies, the application fee step, money safety before a deposit. Next: a cost-of-study planner.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9646920" y="24963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Money, planned</a:t>
            </a:r>
            <a:endParaRPr lang="en-US" sz="1200" dirty="0"/>
          </a:p>
        </p:txBody>
      </p:sp>
      <p:sp>
        <p:nvSpPr>
          <p:cNvPr id="14" name="focus2"/>
          <p:cNvSpPr/>
          <p:nvPr/>
        </p:nvSpPr>
        <p:spPr>
          <a:xfrm>
            <a:off x="548640" y="3346704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958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34670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wellness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434840" y="334670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Care before facts, a crisis check before any AI (red team 100%), real helplines, and Report this reply.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9646920" y="334670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Care · Crisis</a:t>
            </a:r>
            <a:endParaRPr lang="en-US" sz="1200" dirty="0"/>
          </a:p>
        </p:txBody>
      </p:sp>
      <p:sp>
        <p:nvSpPr>
          <p:cNvPr id="19" name="focus3"/>
          <p:cNvSpPr/>
          <p:nvPr/>
        </p:nvSpPr>
        <p:spPr>
          <a:xfrm>
            <a:off x="548640" y="4197096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79976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419709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Academic persistence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434840" y="4197096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check, module cards, DP and the exam mark still needed, free books. Next: the study coach.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9646920" y="419709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 · University years</a:t>
            </a:r>
            <a:endParaRPr lang="en-US" sz="1200" dirty="0"/>
          </a:p>
        </p:txBody>
      </p:sp>
      <p:sp>
        <p:nvSpPr>
          <p:cNvPr id="24" name="focus4"/>
          <p:cNvSpPr/>
          <p:nvPr/>
        </p:nvSpPr>
        <p:spPr>
          <a:xfrm>
            <a:off x="548640" y="5047488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30368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504748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Connectivity and accessible learning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34840" y="504748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Light pages for cheap phones, SMS and WhatsApp, an offline calculator, Read aloud, WCAG 2.2 AA tested.</a:t>
            </a:r>
            <a:endParaRPr lang="en-US" sz="1250" dirty="0"/>
          </a:p>
        </p:txBody>
      </p:sp>
      <p:sp>
        <p:nvSpPr>
          <p:cNvPr id="28" name="Text 21"/>
          <p:cNvSpPr txBox="1"/>
          <p:nvPr/>
        </p:nvSpPr>
        <p:spPr>
          <a:xfrm>
            <a:off x="9646920" y="5047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every learner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Right-hand column: the slide that shows it. Focus areas as listed in the FNB Hackathon 2026 challenge "Access to higher education".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09  ·  SCHOOL, GRADES 10 TO 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marks, against each university's own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407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352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80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863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08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6754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591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4536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828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385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093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106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2411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19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06424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9072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972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Qualify now, close, or Plan B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1097280" y="20756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course scored the way that university scores it: APS, points or its own formula.</a:t>
            </a:r>
            <a:endParaRPr lang="en-US" sz="13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109728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 need</a:t>
            </a:r>
            <a:endParaRPr lang="en-US" sz="1700" dirty="0"/>
          </a:p>
        </p:txBody>
      </p:sp>
      <p:sp>
        <p:nvSpPr>
          <p:cNvPr id="38" name="Text 34"/>
          <p:cNvSpPr txBox="1"/>
          <p:nvPr/>
        </p:nvSpPr>
        <p:spPr>
          <a:xfrm>
            <a:off x="1097280" y="30815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mark to aim for in each subject, for the course the learner wants most.</a:t>
            </a:r>
            <a:endParaRPr lang="en-US" sz="13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0752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109728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Subjects that keep doors open</a:t>
            </a:r>
            <a:endParaRPr lang="en-US" sz="1700" dirty="0"/>
          </a:p>
        </p:txBody>
      </p:sp>
      <p:sp>
        <p:nvSpPr>
          <p:cNvPr id="41" name="Text 36"/>
          <p:cNvSpPr txBox="1"/>
          <p:nvPr/>
        </p:nvSpPr>
        <p:spPr>
          <a:xfrm>
            <a:off x="1097280" y="40873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Grade 10: which courses a subject choice opens or closes, before it's too late to change.</a:t>
            </a:r>
            <a:endParaRPr lang="en-US" sz="13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36592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1097280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Only checked facts</a:t>
            </a:r>
            <a:endParaRPr lang="en-US" sz="1700" dirty="0"/>
          </a:p>
        </p:txBody>
      </p:sp>
      <p:sp>
        <p:nvSpPr>
          <p:cNvPr id="44" name="Text 38"/>
          <p:cNvSpPr txBox="1"/>
          <p:nvPr/>
        </p:nvSpPr>
        <p:spPr>
          <a:xfrm>
            <a:off x="1097280" y="509320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requirement carries its source and year. Unchecked records are labelled and never reach real learners.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5385816" y="1709928"/>
            <a:ext cx="4407408" cy="2996946"/>
          </a:xfrm>
          <a:prstGeom prst="roundRect">
            <a:avLst>
              <a:gd name="adj" fmla="val 2441"/>
            </a:avLst>
          </a:prstGeom>
          <a:solidFill>
            <a:srgbClr val="211F25"/>
          </a:solidFill>
          <a:ln w="1905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5513832" y="179222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5660136" y="179222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5806440" y="179222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pic>
        <p:nvPicPr>
          <p:cNvPr id="49" name="Image 4" descr="Naledi's My results page on a laptop: courses she is on track for at six universiti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965960"/>
            <a:ext cx="4297680" cy="2686050"/>
          </a:xfrm>
          <a:prstGeom prst="rect">
            <a:avLst/>
          </a:prstGeom>
        </p:spPr>
      </p:pic>
      <p:sp>
        <p:nvSpPr>
          <p:cNvPr id="50" name="Shape 43"/>
          <p:cNvSpPr/>
          <p:nvPr/>
        </p:nvSpPr>
        <p:spPr>
          <a:xfrm>
            <a:off x="9921240" y="1463040"/>
            <a:ext cx="1783080" cy="3926199"/>
          </a:xfrm>
          <a:prstGeom prst="roundRect">
            <a:avLst>
              <a:gd name="adj" fmla="val 14359"/>
            </a:avLst>
          </a:prstGeom>
          <a:solidFill>
            <a:srgbClr val="0E0D10"/>
          </a:solidFill>
          <a:ln w="2540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10538460" y="1545336"/>
            <a:ext cx="548640" cy="73152"/>
          </a:xfrm>
          <a:prstGeom prst="roundRect">
            <a:avLst>
              <a:gd name="adj" fmla="val 50000"/>
            </a:avLst>
          </a:prstGeom>
          <a:solidFill>
            <a:srgbClr val="433F45"/>
          </a:solidFill>
          <a:ln w="12700">
            <a:solidFill>
              <a:srgbClr val="433F45"/>
            </a:solidFill>
            <a:prstDash val="solid"/>
          </a:ln>
        </p:spPr>
      </p:sp>
      <p:pic>
        <p:nvPicPr>
          <p:cNvPr id="52" name="Image 5" descr="Thabo's My subjects page on a phone: your subjects close 35 of the 86 courses her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1691640"/>
            <a:ext cx="1636776" cy="3542151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5440680" y="4800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Naledi, Grade 11: My results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9692640" y="5623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Thabo, Grade 10: My subjects</a:t>
            </a:r>
            <a:endParaRPr lang="en-US" sz="1100" dirty="0"/>
          </a:p>
        </p:txBody>
      </p:sp>
      <p:sp>
        <p:nvSpPr>
          <p:cNvPr id="55" name="Text 47"/>
          <p:cNvSpPr txBox="1"/>
          <p:nvPr/>
        </p:nvSpPr>
        <p:spPr>
          <a:xfrm>
            <a:off x="548640" y="5943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Today: 86 programmes at Wits, UJ, UP, UCT, TUT and UKZN, researched as drafts and awaiting a person's verification. Screens: the live judge demo, made-up learners.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10  ·  APPLY AND FUND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Applications on time. Funding explained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0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4072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3528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808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8632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088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67544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5912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45368" y="258318"/>
            <a:ext cx="128016" cy="32004"/>
          </a:xfrm>
          <a:prstGeom prst="roundRect">
            <a:avLst>
              <a:gd name="adj" fmla="val 50000"/>
            </a:avLst>
          </a:prstGeom>
          <a:solidFill>
            <a:srgbClr val="3A2B35"/>
          </a:solidFill>
          <a:ln w="12700">
            <a:solidFill>
              <a:srgbClr val="3A2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82880"/>
            <a:ext cx="182880" cy="182880"/>
          </a:xfrm>
          <a:prstGeom prst="ellipse">
            <a:avLst/>
          </a:prstGeom>
          <a:solidFill>
            <a:srgbClr val="C99BB8"/>
          </a:solidFill>
          <a:ln w="15875">
            <a:solidFill>
              <a:srgbClr val="3A2B3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3850" y="182880"/>
            <a:ext cx="182880" cy="182880"/>
          </a:xfrm>
          <a:prstGeom prst="ellipse">
            <a:avLst/>
          </a:prstGeom>
          <a:solidFill>
            <a:srgbClr val="1A1219"/>
          </a:solidFill>
          <a:ln w="15875">
            <a:solidFill>
              <a:srgbClr val="1A121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093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182880"/>
            <a:ext cx="182880" cy="182880"/>
          </a:xfrm>
          <a:prstGeom prst="ellipse">
            <a:avLst/>
          </a:prstGeom>
          <a:solidFill>
            <a:srgbClr val="C99BB8"/>
          </a:solidFill>
          <a:ln w="15875">
            <a:solidFill>
              <a:srgbClr val="3A2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106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24110" y="182880"/>
            <a:ext cx="182880" cy="182880"/>
          </a:xfrm>
          <a:prstGeom prst="ellipse">
            <a:avLst/>
          </a:prstGeom>
          <a:solidFill>
            <a:srgbClr val="C99BB8"/>
          </a:solidFill>
          <a:ln w="15875">
            <a:solidFill>
              <a:srgbClr val="3A2B3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19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064240" y="182880"/>
            <a:ext cx="182880" cy="182880"/>
          </a:xfrm>
          <a:prstGeom prst="ellipse">
            <a:avLst/>
          </a:prstGeom>
          <a:solidFill>
            <a:srgbClr val="C99BB8"/>
          </a:solidFill>
          <a:ln w="15875">
            <a:solidFill>
              <a:srgbClr val="3A2B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33" name="applyShots"/>
          <p:cNvSpPr/>
          <p:nvPr/>
        </p:nvSpPr>
        <p:spPr>
          <a:xfrm>
            <a:off x="548640" y="164592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1783080"/>
            <a:ext cx="1828800" cy="4025142"/>
          </a:xfrm>
          <a:prstGeom prst="roundRect">
            <a:avLst>
              <a:gd name="adj" fmla="val 14000"/>
            </a:avLst>
          </a:prstGeom>
          <a:solidFill>
            <a:srgbClr val="0E0D10"/>
          </a:solidFill>
          <a:ln w="2540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508760" y="1865376"/>
            <a:ext cx="548640" cy="73152"/>
          </a:xfrm>
          <a:prstGeom prst="roundRect">
            <a:avLst>
              <a:gd name="adj" fmla="val 50000"/>
            </a:avLst>
          </a:prstGeom>
          <a:solidFill>
            <a:srgbClr val="433F45"/>
          </a:solidFill>
          <a:ln w="12700">
            <a:solidFill>
              <a:srgbClr val="433F45"/>
            </a:solidFill>
            <a:prstDash val="solid"/>
          </a:ln>
        </p:spPr>
      </p:sp>
      <p:pic>
        <p:nvPicPr>
          <p:cNvPr id="36" name="Image 0" descr="Amahle's Applications page on a phone, with a checklist and closing date per univers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11680"/>
            <a:ext cx="1682496" cy="3641094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2971800" y="1783080"/>
            <a:ext cx="1828800" cy="4025142"/>
          </a:xfrm>
          <a:prstGeom prst="roundRect">
            <a:avLst>
              <a:gd name="adj" fmla="val 14000"/>
            </a:avLst>
          </a:prstGeom>
          <a:solidFill>
            <a:srgbClr val="0E0D10"/>
          </a:solidFill>
          <a:ln w="2540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611880" y="1865376"/>
            <a:ext cx="548640" cy="73152"/>
          </a:xfrm>
          <a:prstGeom prst="roundRect">
            <a:avLst>
              <a:gd name="adj" fmla="val 50000"/>
            </a:avLst>
          </a:prstGeom>
          <a:solidFill>
            <a:srgbClr val="433F45"/>
          </a:solidFill>
          <a:ln w="12700">
            <a:solidFill>
              <a:srgbClr val="433F45"/>
            </a:solidFill>
            <a:prstDash val="solid"/>
          </a:ln>
        </p:spPr>
      </p:sp>
      <p:pic>
        <p:nvPicPr>
          <p:cNvPr id="39" name="Image 1" descr="Amahle's Funding page on a phone: the NSFAS window and who can app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2" y="2011680"/>
            <a:ext cx="1682496" cy="3641094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548640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10977372" y="16459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0977372" y="16459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0" y="1965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checklist and closing date for each university, and the next step on the home page.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5486400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NSFAS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10977372" y="25146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10977372" y="25146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5486400" y="2834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Who can apply, the window, the documents, and keeping funding (the N+ rule). It explains; NSFAS decides.</a:t>
            </a:r>
            <a:endParaRPr lang="en-US" sz="1350" dirty="0"/>
          </a:p>
        </p:txBody>
      </p:sp>
      <p:sp>
        <p:nvSpPr>
          <p:cNvPr id="48" name="Text 44"/>
          <p:cNvSpPr txBox="1"/>
          <p:nvPr/>
        </p:nvSpPr>
        <p:spPr>
          <a:xfrm>
            <a:off x="5486400" y="33375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Follow-ups</a:t>
            </a:r>
            <a:endParaRPr lang="en-US" sz="1700" dirty="0"/>
          </a:p>
        </p:txBody>
      </p:sp>
      <p:sp>
        <p:nvSpPr>
          <p:cNvPr id="49" name="Shape 45"/>
          <p:cNvSpPr/>
          <p:nvPr/>
        </p:nvSpPr>
        <p:spPr>
          <a:xfrm>
            <a:off x="9966960" y="3383280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966960" y="338328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ON STAND-INS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5486400" y="3703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 when an application still has something to do, and before an offer's reply-by date.</a:t>
            </a:r>
            <a:endParaRPr lang="en-US" sz="1350" dirty="0"/>
          </a:p>
        </p:txBody>
      </p:sp>
      <p:sp>
        <p:nvSpPr>
          <p:cNvPr id="52" name="Text 48"/>
          <p:cNvSpPr txBox="1"/>
          <p:nvPr/>
        </p:nvSpPr>
        <p:spPr>
          <a:xfrm>
            <a:off x="5486400" y="4206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Scam warnings</a:t>
            </a:r>
            <a:endParaRPr lang="en-US" sz="1700" dirty="0"/>
          </a:p>
        </p:txBody>
      </p:sp>
      <p:sp>
        <p:nvSpPr>
          <p:cNvPr id="53" name="Shape 49"/>
          <p:cNvSpPr/>
          <p:nvPr/>
        </p:nvSpPr>
        <p:spPr>
          <a:xfrm>
            <a:off x="10977372" y="425196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0977372" y="425196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5486400" y="457200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Nobody can sell a place or a bursary. Applying for NSFAS is free.</a:t>
            </a:r>
            <a:endParaRPr lang="en-US" sz="1350" dirty="0"/>
          </a:p>
        </p:txBody>
      </p:sp>
      <p:sp>
        <p:nvSpPr>
          <p:cNvPr id="56" name="Text 52"/>
          <p:cNvSpPr txBox="1"/>
          <p:nvPr/>
        </p:nvSpPr>
        <p:spPr>
          <a:xfrm>
            <a:off x="5486400" y="5074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Bursaries beyond NSFAS</a:t>
            </a:r>
            <a:endParaRPr lang="en-US" sz="1700" dirty="0"/>
          </a:p>
        </p:txBody>
      </p:sp>
      <p:sp>
        <p:nvSpPr>
          <p:cNvPr id="57" name="Shape 53"/>
          <p:cNvSpPr/>
          <p:nvPr/>
        </p:nvSpPr>
        <p:spPr>
          <a:xfrm>
            <a:off x="10200132" y="5120640"/>
            <a:ext cx="1440180" cy="237744"/>
          </a:xfrm>
          <a:prstGeom prst="roundRect">
            <a:avLst>
              <a:gd name="adj" fmla="val 50000"/>
            </a:avLst>
          </a:prstGeom>
          <a:solidFill>
            <a:srgbClr val="2E1724"/>
          </a:solidFill>
          <a:ln w="12700">
            <a:solidFill>
              <a:srgbClr val="2E1724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10200132" y="5120640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9B8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 A PARTNER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5486400" y="54406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Matching to bursaries, and pre-filled applications with funders who agree.</a:t>
            </a:r>
            <a:endParaRPr lang="en-US" sz="1350" dirty="0"/>
          </a:p>
        </p:txBody>
      </p:sp>
      <p:sp>
        <p:nvSpPr>
          <p:cNvPr id="60" name="Text 56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Screens: the live judge demo (made-up learner Amahle, Grade 12). Pre-filled funding applications are gate H3 of the plan: only with a signed agreement.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11  ·  MONEY, PLANNED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Cost planning, honestly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407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352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80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863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08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6754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591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4536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3850" y="1828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093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106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24110" y="1828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19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06424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0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3352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09728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NSFAS pays, who qualifies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1097280" y="202996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Study fees and allowances, for households earning up to R350 000 a year (R600 000 with a disability). The documents, and how to keep funding (the N+ rule).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692140" y="170992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92140" y="1709928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109728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 fees</a:t>
            </a:r>
            <a:endParaRPr lang="en-US" sz="1700" dirty="0"/>
          </a:p>
        </p:txBody>
      </p:sp>
      <p:sp>
        <p:nvSpPr>
          <p:cNvPr id="40" name="Text 36"/>
          <p:cNvSpPr txBox="1"/>
          <p:nvPr/>
        </p:nvSpPr>
        <p:spPr>
          <a:xfrm>
            <a:off x="1097280" y="308152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fee step on each university's checklist: paid, or a waiver approved. Some charge nothing: UJ has no application fee.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5692140" y="276148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692140" y="2761488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76472"/>
            <a:ext cx="365760" cy="36576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1097280" y="3749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Money safety</a:t>
            </a:r>
            <a:endParaRPr lang="en-US" sz="1700" dirty="0"/>
          </a:p>
        </p:txBody>
      </p:sp>
      <p:sp>
        <p:nvSpPr>
          <p:cNvPr id="45" name="Text 40"/>
          <p:cNvSpPr txBox="1"/>
          <p:nvPr/>
        </p:nvSpPr>
        <p:spPr>
          <a:xfrm>
            <a:off x="1097280" y="41330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Never pay anyone for a place, a bursary or an NSFAS application. A check before paying a deposit on an offer.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5692140" y="3813048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692140" y="3813048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28032"/>
            <a:ext cx="365760" cy="36576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109728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Bursaries beyond NSFAS</a:t>
            </a:r>
            <a:endParaRPr lang="en-US" sz="17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" y="518464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Matching to bursaries, and pre-filled applications with funders who agree.</a:t>
            </a:r>
            <a:endParaRPr lang="en-US" sz="1250" dirty="0"/>
          </a:p>
        </p:txBody>
      </p:sp>
      <p:sp>
        <p:nvSpPr>
          <p:cNvPr id="51" name="Shape 45"/>
          <p:cNvSpPr/>
          <p:nvPr/>
        </p:nvSpPr>
        <p:spPr>
          <a:xfrm>
            <a:off x="4914900" y="4864608"/>
            <a:ext cx="1440180" cy="237744"/>
          </a:xfrm>
          <a:prstGeom prst="roundRect">
            <a:avLst>
              <a:gd name="adj" fmla="val 50000"/>
            </a:avLst>
          </a:prstGeom>
          <a:solidFill>
            <a:srgbClr val="2E1724"/>
          </a:solidFill>
          <a:ln w="12700">
            <a:solidFill>
              <a:srgbClr val="2E1724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4914900" y="4864608"/>
            <a:ext cx="1440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9B8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NEEDS A PARTNER</a:t>
            </a:r>
            <a:endParaRPr lang="en-US" sz="900" dirty="0"/>
          </a:p>
        </p:txBody>
      </p:sp>
      <p:sp>
        <p:nvSpPr>
          <p:cNvPr id="53" name="costNext"/>
          <p:cNvSpPr/>
          <p:nvPr/>
        </p:nvSpPr>
        <p:spPr>
          <a:xfrm>
            <a:off x="6903720" y="1691640"/>
            <a:ext cx="4709160" cy="4023360"/>
          </a:xfrm>
          <a:prstGeom prst="roundRect">
            <a:avLst>
              <a:gd name="adj" fmla="val 2727"/>
            </a:avLst>
          </a:prstGeom>
          <a:solidFill>
            <a:srgbClr val="17161A"/>
          </a:solidFill>
          <a:ln w="19050">
            <a:solidFill>
              <a:srgbClr val="C99BB8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7178040" y="1920240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2A2416"/>
          </a:solidFill>
          <a:ln w="12700">
            <a:solidFill>
              <a:srgbClr val="2A2416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7178040" y="1920240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C26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NEXT: PROPOSED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717804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cost-of-study planner</a:t>
            </a:r>
            <a:endParaRPr lang="en-US" sz="2200" dirty="0"/>
          </a:p>
        </p:txBody>
      </p:sp>
      <p:sp>
        <p:nvSpPr>
          <p:cNvPr id="57" name="Text 51"/>
          <p:cNvSpPr txBox="1"/>
          <p:nvPr/>
        </p:nvSpPr>
        <p:spPr>
          <a:xfrm>
            <a:off x="7178040" y="283464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each course on the shortlist: tuition, residence, transport, books and data, against what NSFAS or a bursary pays, and the gap the family must plan for.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7178040" y="42519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from each university's published fees, and shown only once a person has checked them. A wrong fee breaks a family's budget; we will not guess one.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Built: the Funding page (packages/content funding.ts, safety.ts), the application checklist, the offers reminders. NSFAS limits as published by universities (e.g. Rhodes); UJ: "No application fee" (its 2027 prospectus, a draft record).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12  ·  MATRIC, THROUGH THE EXAMS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Close through the exams, never in the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407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352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80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863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08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6754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591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4536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385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093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1828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106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2411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19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06424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2377440"/>
            <a:ext cx="7863840" cy="7315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544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04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836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40880" y="272034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98080" y="2720340"/>
            <a:ext cx="18288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2587752"/>
            <a:ext cx="310896" cy="31089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TERM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 to 2 a week</a:t>
            </a:r>
            <a:endParaRPr lang="en-US" sz="19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Only about their own goal. Nothing to say, nothing sent.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514600" y="258775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4231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WEEK BEFORE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Up to 1 a day</a:t>
            </a:r>
            <a:endParaRPr lang="en-US" sz="1900" dirty="0"/>
          </a:p>
        </p:txBody>
      </p:sp>
      <p:sp>
        <p:nvSpPr>
          <p:cNvPr id="58" name="Text 56"/>
          <p:cNvSpPr txBox="1"/>
          <p:nvPr/>
        </p:nvSpPr>
        <p:spPr>
          <a:xfrm>
            <a:off x="242316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Study reminders they asked for, never above their own cap.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89120" y="258775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2976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PAPER DAY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2976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Silent</a:t>
            </a:r>
            <a:endParaRPr lang="en-US" sz="1900" dirty="0"/>
          </a:p>
        </p:txBody>
      </p:sp>
      <p:sp>
        <p:nvSpPr>
          <p:cNvPr id="62" name="Text 60"/>
          <p:cNvSpPr txBox="1"/>
          <p:nvPr/>
        </p:nvSpPr>
        <p:spPr>
          <a:xfrm>
            <a:off x="429768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Nothing from an hour before a paper to 30 minutes after.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263640" y="2587752"/>
            <a:ext cx="310896" cy="310896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1722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NEW REPORT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6172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Re-check</a:t>
            </a:r>
            <a:endParaRPr lang="en-US" sz="1900" dirty="0"/>
          </a:p>
        </p:txBody>
      </p:sp>
      <p:sp>
        <p:nvSpPr>
          <p:cNvPr id="66" name="Text 64"/>
          <p:cNvSpPr txBox="1"/>
          <p:nvPr/>
        </p:nvSpPr>
        <p:spPr>
          <a:xfrm>
            <a:off x="6172200" y="32918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June and September marks re-run what they qualify for.</a:t>
            </a:r>
            <a:endParaRPr lang="en-US" sz="1300" dirty="0"/>
          </a:p>
        </p:txBody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44568"/>
            <a:ext cx="329184" cy="329184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1051560" y="4526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Motivation that is theirs</a:t>
            </a:r>
            <a:endParaRPr lang="en-US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51560" y="4846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home keeps their goal and the mark each subject needs in view; the chat recalls the goal in their words.</a:t>
            </a:r>
            <a:endParaRPr lang="en-US" sz="1300" dirty="0"/>
          </a:p>
        </p:txBody>
      </p:sp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76088"/>
            <a:ext cx="329184" cy="329184"/>
          </a:xfrm>
          <a:prstGeom prst="rect">
            <a:avLst/>
          </a:prstGeom>
        </p:spPr>
      </p:pic>
      <p:sp>
        <p:nvSpPr>
          <p:cNvPr id="71" name="Text 67"/>
          <p:cNvSpPr txBox="1"/>
          <p:nvPr/>
        </p:nvSpPr>
        <p:spPr>
          <a:xfrm>
            <a:off x="1051560" y="5257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Consent first</a:t>
            </a:r>
            <a:endParaRPr lang="en-US" sz="1500" dirty="0"/>
          </a:p>
        </p:txBody>
      </p:sp>
      <p:sp>
        <p:nvSpPr>
          <p:cNvPr id="72" name="Text 68"/>
          <p:cNvSpPr txBox="1"/>
          <p:nvPr/>
        </p:nvSpPr>
        <p:spPr>
          <a:xfrm>
            <a:off x="1051560" y="55778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Opt-in per channel; a guardian's for under-18s. No messages at night. STOP works at once.</a:t>
            </a:r>
            <a:endParaRPr lang="en-US" sz="1300" dirty="0"/>
          </a:p>
        </p:txBody>
      </p:sp>
      <p:sp>
        <p:nvSpPr>
          <p:cNvPr id="73" name="Shape 69"/>
          <p:cNvSpPr/>
          <p:nvPr/>
        </p:nvSpPr>
        <p:spPr>
          <a:xfrm>
            <a:off x="8458200" y="1325880"/>
            <a:ext cx="3154680" cy="4572000"/>
          </a:xfrm>
          <a:prstGeom prst="roundRect">
            <a:avLst>
              <a:gd name="adj" fmla="val 9275"/>
            </a:avLst>
          </a:prstGeom>
          <a:solidFill>
            <a:srgbClr val="17161A"/>
          </a:solidFill>
          <a:ln w="25400">
            <a:solidFill>
              <a:srgbClr val="433F45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0000"/>
              </a:srgbClr>
            </a:outerShdw>
          </a:effectLst>
        </p:spPr>
      </p:sp>
      <p:pic>
        <p:nvPicPr>
          <p:cNvPr id="7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618488"/>
            <a:ext cx="274320" cy="274320"/>
          </a:xfrm>
          <a:prstGeom prst="rect">
            <a:avLst/>
          </a:prstGeom>
        </p:spPr>
      </p:pic>
      <p:sp>
        <p:nvSpPr>
          <p:cNvPr id="75" name="Text 70"/>
          <p:cNvSpPr txBox="1"/>
          <p:nvPr/>
        </p:nvSpPr>
        <p:spPr>
          <a:xfrm>
            <a:off x="9098280" y="1600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UniversityFlow  ·  SMS</a:t>
            </a:r>
            <a:endParaRPr lang="en-US" sz="1300" dirty="0"/>
          </a:p>
        </p:txBody>
      </p:sp>
      <p:sp>
        <p:nvSpPr>
          <p:cNvPr id="76" name="Shape 71"/>
          <p:cNvSpPr/>
          <p:nvPr/>
        </p:nvSpPr>
        <p:spPr>
          <a:xfrm>
            <a:off x="8659368" y="2148840"/>
            <a:ext cx="2752344" cy="1463040"/>
          </a:xfrm>
          <a:prstGeom prst="roundRect">
            <a:avLst>
              <a:gd name="adj" fmla="val 6250"/>
            </a:avLst>
          </a:prstGeom>
          <a:solidFill>
            <a:srgbClr val="211F25"/>
          </a:solidFill>
          <a:ln w="12700">
            <a:solidFill>
              <a:srgbClr val="211F25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8796528" y="2258568"/>
            <a:ext cx="2478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UniversityFlow: this is the study reminder you asked for. Time for a little practice today. You've got this. Reply STOP to stop.</a:t>
            </a:r>
            <a:endParaRPr lang="en-US" sz="1400" dirty="0"/>
          </a:p>
        </p:txBody>
      </p:sp>
      <p:sp>
        <p:nvSpPr>
          <p:cNvPr id="78" name="Text 73"/>
          <p:cNvSpPr txBox="1"/>
          <p:nvPr/>
        </p:nvSpPr>
        <p:spPr>
          <a:xfrm>
            <a:off x="8686800" y="384048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message is fixed, reviewed text. No name and no marks ever travel in a message: the details wait inside the app.</a:t>
            </a:r>
            <a:endParaRPr lang="en-US" sz="1200" dirty="0"/>
          </a:p>
        </p:txBody>
      </p:sp>
      <p:sp>
        <p:nvSpPr>
          <p:cNvPr id="79" name="Shape 74"/>
          <p:cNvSpPr/>
          <p:nvPr/>
        </p:nvSpPr>
        <p:spPr>
          <a:xfrm>
            <a:off x="8686800" y="5166360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8686800" y="516636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ON STAND-INS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548640" y="5943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Rules as built in packages/messaging (cadence.ts); the numbers are the owner's to confirm. SMS, WhatsApp and push run on stand-ins until a provider is chosen.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13  ·  CARE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When a learner is struggling</a:t>
            </a:r>
            <a:endParaRPr lang="en-US" sz="3200" dirty="0"/>
          </a:p>
        </p:txBody>
      </p:sp>
      <p:pic>
        <p:nvPicPr>
          <p:cNvPr id="4" name="Image 0" descr="A young person sitting alone in a dim room, head bow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Care comes before facts. The companion asks how they are before it asks about marks.</a:t>
            </a:r>
            <a:endParaRPr lang="en-US" sz="1700" dirty="0"/>
          </a:p>
        </p:txBody>
      </p:sp>
      <p:sp>
        <p:nvSpPr>
          <p:cNvPr id="6" name="care0"/>
          <p:cNvSpPr/>
          <p:nvPr/>
        </p:nvSpPr>
        <p:spPr>
          <a:xfrm>
            <a:off x="4754880" y="2377440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5603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76672" y="25328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bad result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95604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Kind and honest: what the marks still allow, and Plan B. Never a promise it can't keep.</a:t>
            </a:r>
            <a:endParaRPr lang="en-US" sz="1150" dirty="0"/>
          </a:p>
        </p:txBody>
      </p:sp>
      <p:sp>
        <p:nvSpPr>
          <p:cNvPr id="10" name="care1"/>
          <p:cNvSpPr/>
          <p:nvPr/>
        </p:nvSpPr>
        <p:spPr>
          <a:xfrm>
            <a:off x="8229600" y="2377440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56032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851392" y="25328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 stress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430768" y="29077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Never "don't worry". One small next step from their own timetable, and sleep before a paper.</a:t>
            </a:r>
            <a:endParaRPr lang="en-US" sz="1150" dirty="0"/>
          </a:p>
        </p:txBody>
      </p:sp>
      <p:sp>
        <p:nvSpPr>
          <p:cNvPr id="14" name="care2"/>
          <p:cNvSpPr/>
          <p:nvPr/>
        </p:nvSpPr>
        <p:spPr>
          <a:xfrm>
            <a:off x="4754880" y="3584448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76732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376672" y="37398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Giving up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4956048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Their own goal, in their own words, without pressure. Another route is not a failure.</a:t>
            </a:r>
            <a:endParaRPr lang="en-US" sz="1150" dirty="0"/>
          </a:p>
        </p:txBody>
      </p:sp>
      <p:sp>
        <p:nvSpPr>
          <p:cNvPr id="18" name="care3"/>
          <p:cNvSpPr/>
          <p:nvPr/>
        </p:nvSpPr>
        <p:spPr>
          <a:xfrm>
            <a:off x="8229600" y="3584448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76732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851392" y="37398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Pressure at home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430768" y="4114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Helps them find the words for family, a teacher or the school counsellor.</a:t>
            </a:r>
            <a:endParaRPr lang="en-US" sz="1150" dirty="0"/>
          </a:p>
        </p:txBody>
      </p:sp>
      <p:sp>
        <p:nvSpPr>
          <p:cNvPr id="22" name="care4"/>
          <p:cNvSpPr/>
          <p:nvPr/>
        </p:nvSpPr>
        <p:spPr>
          <a:xfrm>
            <a:off x="4754880" y="4791456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974336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376672" y="49469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AI, and says so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4956048" y="5321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Asked if it's a person, it says no, and names a parent, teacher or counsellor.</a:t>
            </a:r>
            <a:endParaRPr lang="en-US" sz="1150" dirty="0"/>
          </a:p>
        </p:txBody>
      </p:sp>
      <p:sp>
        <p:nvSpPr>
          <p:cNvPr id="26" name="care5"/>
          <p:cNvSpPr/>
          <p:nvPr/>
        </p:nvSpPr>
        <p:spPr>
          <a:xfrm>
            <a:off x="8229600" y="4791456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768" y="4974336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851392" y="49469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Arriving alone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8430768" y="53218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lost offer or a hard first week gets care first, then real next steps.</a:t>
            </a:r>
            <a:endParaRPr lang="en-US" sz="1150" dirty="0"/>
          </a:p>
        </p:txBody>
      </p:sp>
      <p:sp>
        <p:nvSpPr>
          <p:cNvPr id="30" name="Text 21"/>
          <p:cNvSpPr txBox="1"/>
          <p:nvPr/>
        </p:nvSpPr>
        <p:spPr>
          <a:xfrm>
            <a:off x="4754880" y="5943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As built: the charter and its care guidance (packages/agent, charter.ts, system-prompt.ts). UniversityFlow is not therapy and never a substitute for a counsellor, doctor or psychologist.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14  ·  WHEN IT IS MORE THAN SADNESS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crisis is answered by code, before any AI</a:t>
            </a:r>
            <a:endParaRPr lang="en-US" sz="3200" dirty="0"/>
          </a:p>
        </p:txBody>
      </p:sp>
      <p:sp>
        <p:nvSpPr>
          <p:cNvPr id="4" name="flow0"/>
          <p:cNvSpPr/>
          <p:nvPr/>
        </p:nvSpPr>
        <p:spPr>
          <a:xfrm>
            <a:off x="548640" y="1691640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384048" cy="384048"/>
          </a:xfrm>
          <a:prstGeom prst="ellipse">
            <a:avLst/>
          </a:prstGeom>
          <a:solidFill>
            <a:srgbClr val="B9B4BC"/>
          </a:solidFill>
          <a:ln w="12700">
            <a:solidFill>
              <a:srgbClr val="B9B4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learner writes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message, in the chat or a plan map, is checked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2928" y="251460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flow1"/>
          <p:cNvSpPr/>
          <p:nvPr/>
        </p:nvSpPr>
        <p:spPr>
          <a:xfrm>
            <a:off x="3063240" y="1691640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1874520"/>
            <a:ext cx="384048" cy="384048"/>
          </a:xfrm>
          <a:prstGeom prst="ellipse">
            <a:avLst/>
          </a:prstGeom>
          <a:solidFill>
            <a:srgbClr val="C99BB8"/>
          </a:solidFill>
          <a:ln w="12700">
            <a:solidFill>
              <a:srgbClr val="C99B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644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64408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fixed check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64408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Words of suicide, self-harm or abuse are matched by rules, not a model.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67528" y="2514600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low2"/>
          <p:cNvSpPr/>
          <p:nvPr/>
        </p:nvSpPr>
        <p:spPr>
          <a:xfrm>
            <a:off x="5577840" y="1691640"/>
            <a:ext cx="2286000" cy="1920240"/>
          </a:xfrm>
          <a:prstGeom prst="roundRect">
            <a:avLst>
              <a:gd name="adj" fmla="val 5714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9008" y="1874520"/>
            <a:ext cx="384048" cy="384048"/>
          </a:xfrm>
          <a:prstGeom prst="ellipse">
            <a:avLst/>
          </a:prstGeom>
          <a:solidFill>
            <a:srgbClr val="FF8A80"/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7900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779008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Coaching stops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779008" y="27432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reviewed reply and the crisis card: free helplines, then a person.</a:t>
            </a:r>
            <a:endParaRPr lang="en-US" sz="1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13632"/>
            <a:ext cx="310896" cy="3108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0584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 errs towards help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566160" y="39044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false alarm costs a few seconds; a miss could cost far more.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005840" y="4544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Tested on every change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3566160" y="456285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red-team suite of over 450 crisis cases must pass 100% for any change to the agent or its words.</a:t>
            </a:r>
            <a:endParaRPr lang="en-US" sz="12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30368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05840" y="5202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Report this reply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3566160" y="52212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button on every AI reply, so a learner can flag a bad answer.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29600" y="1325880"/>
            <a:ext cx="2057400" cy="4519856"/>
          </a:xfrm>
          <a:prstGeom prst="roundRect">
            <a:avLst>
              <a:gd name="adj" fmla="val 12444"/>
            </a:avLst>
          </a:prstGeom>
          <a:solidFill>
            <a:srgbClr val="0E0D10"/>
          </a:solidFill>
          <a:ln w="2540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983980" y="1408176"/>
            <a:ext cx="548640" cy="73152"/>
          </a:xfrm>
          <a:prstGeom prst="roundRect">
            <a:avLst>
              <a:gd name="adj" fmla="val 50000"/>
            </a:avLst>
          </a:prstGeom>
          <a:solidFill>
            <a:srgbClr val="433F45"/>
          </a:solidFill>
          <a:ln w="12700">
            <a:solidFill>
              <a:srgbClr val="433F45"/>
            </a:solidFill>
            <a:prstDash val="solid"/>
          </a:ln>
        </p:spPr>
      </p:sp>
      <p:pic>
        <p:nvPicPr>
          <p:cNvPr id="32" name="Image 3" descr="The Get help page on a phone: Talk to someone now, with free, confidential help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554480"/>
            <a:ext cx="1911096" cy="413580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469880" y="1828800"/>
            <a:ext cx="1280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 help: the crisis card's helplines. Numbers blurred here until a person verifies them.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548640" y="59436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Owed before launch, by people: each helpline number checked on the organisation's own site; crisis phrases in isiZulu, isiXhosa, Sesotho, Setswana and Afrikaans reviewed by first-language speakers; the care guidance reviewed by a clinician or Childline (A10-53).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15  ·  ARRIVE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the offer to the first lecture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99516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461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407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5352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7298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9244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189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3135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80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7026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972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917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2863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4808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67544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87000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06456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25912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45368" y="258318"/>
            <a:ext cx="128016" cy="32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4385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4093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8398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8106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MATRIC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24110" y="1828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119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1064240" y="182880"/>
            <a:ext cx="182880" cy="182880"/>
          </a:xfrm>
          <a:prstGeom prst="ellipse">
            <a:avLst/>
          </a:prstGeom>
          <a:solidFill>
            <a:srgbClr val="0E0D10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61320" y="420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1664208"/>
            <a:ext cx="5596128" cy="3739896"/>
          </a:xfrm>
          <a:prstGeom prst="roundRect">
            <a:avLst>
              <a:gd name="adj" fmla="val 1956"/>
            </a:avLst>
          </a:prstGeom>
          <a:solidFill>
            <a:srgbClr val="211F25"/>
          </a:solidFill>
          <a:ln w="19050">
            <a:solidFill>
              <a:srgbClr val="433F45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" y="174650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174650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" y="1746504"/>
            <a:ext cx="91440" cy="91440"/>
          </a:xfrm>
          <a:prstGeom prst="ellipse">
            <a:avLst/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pic>
        <p:nvPicPr>
          <p:cNvPr id="37" name="Image 0" descr="Lerato's First week page on a laptop: a step-by-step check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920240"/>
            <a:ext cx="5486400" cy="342900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54864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Lerato, first year at UJ: First week</a:t>
            </a:r>
            <a:endParaRPr lang="en-US" sz="11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64792"/>
            <a:ext cx="347472" cy="347472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71780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Offers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7178040" y="21214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kind of offer it is, what it still depends on, and the date to reply by.</a:t>
            </a:r>
            <a:endParaRPr lang="en-US" sz="13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52344"/>
            <a:ext cx="347472" cy="347472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7178040" y="2724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Campus and first week</a:t>
            </a:r>
            <a:endParaRPr lang="en-US" sz="1700" dirty="0"/>
          </a:p>
        </p:txBody>
      </p:sp>
      <p:sp>
        <p:nvSpPr>
          <p:cNvPr id="44" name="Text 39"/>
          <p:cNvSpPr txBox="1"/>
          <p:nvPr/>
        </p:nvSpPr>
        <p:spPr>
          <a:xfrm>
            <a:off x="7178040" y="3108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Where things are, walking routes, and the university's own safety advice, quoted.</a:t>
            </a:r>
            <a:endParaRPr lang="en-US" sz="13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3739896"/>
            <a:ext cx="347472" cy="34747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7178040" y="37124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check</a:t>
            </a:r>
            <a:endParaRPr lang="en-US" sz="1700" dirty="0"/>
          </a:p>
        </p:txBody>
      </p:sp>
      <p:sp>
        <p:nvSpPr>
          <p:cNvPr id="47" name="Text 41"/>
          <p:cNvSpPr txBox="1"/>
          <p:nvPr/>
        </p:nvSpPr>
        <p:spPr>
          <a:xfrm>
            <a:off x="7178040" y="40965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Modules checked against the published curriculum, before the last day to change them.</a:t>
            </a:r>
            <a:endParaRPr lang="en-US" sz="13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727448"/>
            <a:ext cx="347472" cy="347472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7178040" y="4700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</a:t>
            </a:r>
            <a:endParaRPr lang="en-US" sz="1700" dirty="0"/>
          </a:p>
        </p:txBody>
      </p:sp>
      <p:sp>
        <p:nvSpPr>
          <p:cNvPr id="50" name="Text 43"/>
          <p:cNvSpPr txBox="1"/>
          <p:nvPr/>
        </p:nvSpPr>
        <p:spPr>
          <a:xfrm>
            <a:off x="7178040" y="50840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day, reply-by dates, and money safety before paying a deposit.</a:t>
            </a:r>
            <a:endParaRPr lang="en-US" sz="1300" dirty="0"/>
          </a:p>
        </p:txBody>
      </p:sp>
      <p:sp>
        <p:nvSpPr>
          <p:cNvPr id="51" name="Shape 44"/>
          <p:cNvSpPr/>
          <p:nvPr/>
        </p:nvSpPr>
        <p:spPr>
          <a:xfrm>
            <a:off x="7178040" y="57150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7178040" y="57150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8595360" y="5943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5, built and audited. Campus and curriculum records are drafts until verified.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16  ·  UNIVERSITY YEARS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year, until the last exam</a:t>
            </a:r>
            <a:endParaRPr lang="en-US" sz="3200" dirty="0"/>
          </a:p>
        </p:txBody>
      </p:sp>
      <p:pic>
        <p:nvPicPr>
          <p:cNvPr id="4" name="Image 0" descr="Students working together at laptop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753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yr0"/>
          <p:cNvSpPr/>
          <p:nvPr/>
        </p:nvSpPr>
        <p:spPr>
          <a:xfrm>
            <a:off x="4754880" y="1965960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56048" y="21031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cards, mark calculator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956048" y="24231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each module is marked: DP, subminimum, and the exam mark still needed. Works offline.</a:t>
            </a:r>
            <a:endParaRPr lang="en-US" sz="1200" dirty="0"/>
          </a:p>
        </p:txBody>
      </p:sp>
      <p:sp>
        <p:nvSpPr>
          <p:cNvPr id="10" name="yr1"/>
          <p:cNvSpPr/>
          <p:nvPr/>
        </p:nvSpPr>
        <p:spPr>
          <a:xfrm>
            <a:off x="4754880" y="3172968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33101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books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36301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 textbooks and the university library for each module, free and legal.</a:t>
            </a:r>
            <a:endParaRPr lang="en-US" sz="1200" dirty="0"/>
          </a:p>
        </p:txBody>
      </p:sp>
      <p:sp>
        <p:nvSpPr>
          <p:cNvPr id="13" name="yr2"/>
          <p:cNvSpPr/>
          <p:nvPr/>
        </p:nvSpPr>
        <p:spPr>
          <a:xfrm>
            <a:off x="4754880" y="4379976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56048" y="45171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Plan maps and My CV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4837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maps you tick off; projects, skills and marks into a first CV (off for real learners until consent v4).</a:t>
            </a:r>
            <a:endParaRPr lang="en-US" sz="1200" dirty="0"/>
          </a:p>
        </p:txBody>
      </p:sp>
      <p:sp>
        <p:nvSpPr>
          <p:cNvPr id="16" name="yr0"/>
          <p:cNvSpPr/>
          <p:nvPr/>
        </p:nvSpPr>
        <p:spPr>
          <a:xfrm>
            <a:off x="8275320" y="1965960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76488" y="210312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Study coach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476488" y="242316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Reads marked tests, finds weak topics, plans around busy weeks. Phase 7, Mar 2028.</a:t>
            </a:r>
            <a:endParaRPr lang="en-US" sz="1200" dirty="0"/>
          </a:p>
        </p:txBody>
      </p:sp>
      <p:sp>
        <p:nvSpPr>
          <p:cNvPr id="19" name="yr1"/>
          <p:cNvSpPr/>
          <p:nvPr/>
        </p:nvSpPr>
        <p:spPr>
          <a:xfrm>
            <a:off x="8275320" y="3172968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76488" y="331012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plan that fits your life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476488" y="36301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study week with room for classes, travel, work, family and rest. Phase 7.</a:t>
            </a:r>
            <a:endParaRPr lang="en-US" sz="1200" dirty="0"/>
          </a:p>
        </p:txBody>
      </p:sp>
      <p:sp>
        <p:nvSpPr>
          <p:cNvPr id="22" name="yr2"/>
          <p:cNvSpPr/>
          <p:nvPr/>
        </p:nvSpPr>
        <p:spPr>
          <a:xfrm>
            <a:off x="8275320" y="4379976"/>
            <a:ext cx="3337560" cy="1097280"/>
          </a:xfrm>
          <a:prstGeom prst="roundRect">
            <a:avLst>
              <a:gd name="adj" fmla="val 10000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76488" y="451713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Portfolio, My thread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476488" y="4837176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Projects built along the way, one degree-long project. Proposed.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754880" y="57332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aim: catch a missed DP or a wrong module before the next semester, while there is still time to fix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17  ·  IT THINKS AHEAD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Forecasts from the learner's own marks, explained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 SCHOOL</a:t>
            </a:r>
            <a:endParaRPr lang="en-US" sz="1100" dirty="0"/>
          </a:p>
        </p:txBody>
      </p:sp>
      <p:sp>
        <p:nvSpPr>
          <p:cNvPr id="5" name="think00"/>
          <p:cNvSpPr/>
          <p:nvPr/>
        </p:nvSpPr>
        <p:spPr>
          <a:xfrm>
            <a:off x="548640" y="19202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756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029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Where marks are heading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pass her marks would give, and each subject’s change since Grade 10.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82112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hink01"/>
          <p:cNvSpPr/>
          <p:nvPr/>
        </p:nvSpPr>
        <p:spPr>
          <a:xfrm>
            <a:off x="3346704" y="19202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20756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41064" y="2029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course, forecast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29584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Qualify now, on track, close or Plan B, each scored the university’s own way.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98017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hink02"/>
          <p:cNvSpPr/>
          <p:nvPr/>
        </p:nvSpPr>
        <p:spPr>
          <a:xfrm>
            <a:off x="6144768" y="19202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756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39128" y="2029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 need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mark to aim for in each subject to reach her goal.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778240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hink03"/>
          <p:cNvSpPr/>
          <p:nvPr/>
        </p:nvSpPr>
        <p:spPr>
          <a:xfrm>
            <a:off x="8942832" y="19202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712" y="207568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537192" y="20299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Re-check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125712" y="24871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After each new report: which courses moved up, which slipped.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AT UNIVERSITY, AND ALWAYS</a:t>
            </a:r>
            <a:endParaRPr lang="en-US" sz="1100" dirty="0"/>
          </a:p>
        </p:txBody>
      </p:sp>
      <p:sp>
        <p:nvSpPr>
          <p:cNvPr id="25" name="think10"/>
          <p:cNvSpPr/>
          <p:nvPr/>
        </p:nvSpPr>
        <p:spPr>
          <a:xfrm>
            <a:off x="548640" y="3794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5020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143000" y="39044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exam mark needed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3616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the year mark so far: DP met or not, the subminimum, what the exam must give.</a:t>
            </a:r>
            <a:endParaRPr lang="en-US" sz="1200" dirty="0"/>
          </a:p>
        </p:txBody>
      </p:sp>
      <p:sp>
        <p:nvSpPr>
          <p:cNvPr id="29" name="think11"/>
          <p:cNvSpPr/>
          <p:nvPr/>
        </p:nvSpPr>
        <p:spPr>
          <a:xfrm>
            <a:off x="3346704" y="3794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3950208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941064" y="39044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It remembers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3529584" y="43616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Goals, preferences and notes, kept across years. The learner sees and deletes them.</a:t>
            </a:r>
            <a:endParaRPr lang="en-US" sz="1200" dirty="0"/>
          </a:p>
        </p:txBody>
      </p:sp>
      <p:sp>
        <p:nvSpPr>
          <p:cNvPr id="33" name="think12"/>
          <p:cNvSpPr/>
          <p:nvPr/>
        </p:nvSpPr>
        <p:spPr>
          <a:xfrm>
            <a:off x="6144768" y="3794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3950208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739128" y="39044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Knows when to be quiet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6327648" y="43616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Messages fit her exam timetable: at most one a day, never during a paper or after 21:00.</a:t>
            </a:r>
            <a:endParaRPr lang="en-US" sz="1200" dirty="0"/>
          </a:p>
        </p:txBody>
      </p:sp>
      <p:sp>
        <p:nvSpPr>
          <p:cNvPr id="37" name="think13"/>
          <p:cNvSpPr/>
          <p:nvPr/>
        </p:nvSpPr>
        <p:spPr>
          <a:xfrm>
            <a:off x="8942832" y="379476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3950208"/>
            <a:ext cx="310896" cy="310896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537192" y="39044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Reads distress first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9125712" y="43616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crisis check on every message, before the AI, then a person to talk to.</a:t>
            </a:r>
            <a:endParaRPr lang="en-US" sz="1200" dirty="0"/>
          </a:p>
        </p:txBody>
      </p:sp>
      <p:sp>
        <p:nvSpPr>
          <p:cNvPr id="41" name="thinkHow"/>
          <p:cNvSpPr/>
          <p:nvPr/>
        </p:nvSpPr>
        <p:spPr>
          <a:xfrm>
            <a:off x="548640" y="5349240"/>
            <a:ext cx="11064240" cy="594360"/>
          </a:xfrm>
          <a:prstGeom prst="roundRect">
            <a:avLst>
              <a:gd name="adj" fmla="val 18462"/>
            </a:avLst>
          </a:prstGeom>
          <a:solidFill>
            <a:srgbClr val="211F25"/>
          </a:solidFill>
          <a:ln w="12700">
            <a:solidFill>
              <a:srgbClr val="211F25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7772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thinks: 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AI picks among 18 tools, code works out the answer, the AI explains it. Next (Phase 7): a study coach that ranks topics by the marks they cost across tests and their weight in the exam.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Built: packages/admissions (eligibility, school-record, what-i-need, recheck, mark-needed), packages/agent (tools.ts, crisis.ts), packages/messaging (cadence.ts). Phase 7: docs/plans/phase-7-proposal.md.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18  ·  FOR EVERY LEARNER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Connectivity and accessible learning</a:t>
            </a:r>
            <a:endParaRPr lang="en-US" sz="3200" dirty="0"/>
          </a:p>
        </p:txBody>
      </p:sp>
      <p:sp>
        <p:nvSpPr>
          <p:cNvPr id="4" name="access0"/>
          <p:cNvSpPr/>
          <p:nvPr/>
        </p:nvSpPr>
        <p:spPr>
          <a:xfrm>
            <a:off x="548640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Light on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3042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cheap phones: the shared code every page loads is held under 150 KB, checked on every change.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" y="32004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32004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10" name="access1"/>
          <p:cNvSpPr/>
          <p:nvPr/>
        </p:nvSpPr>
        <p:spPr>
          <a:xfrm>
            <a:off x="3346704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5072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and WhatsApp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3042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 and replies without the app or a data bundle.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47872" y="3200400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47872" y="320040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ON STAND-INS</a:t>
            </a:r>
            <a:endParaRPr lang="en-US" sz="900" dirty="0"/>
          </a:p>
        </p:txBody>
      </p:sp>
      <p:sp>
        <p:nvSpPr>
          <p:cNvPr id="16" name="access2"/>
          <p:cNvSpPr/>
          <p:nvPr/>
        </p:nvSpPr>
        <p:spPr>
          <a:xfrm>
            <a:off x="6144768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470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03136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45936" y="23042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mark calculator runs on the phone. Lost signal? It says so and tries again.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45936" y="32004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345936" y="32004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22" name="access3"/>
          <p:cNvSpPr/>
          <p:nvPr/>
        </p:nvSpPr>
        <p:spPr>
          <a:xfrm>
            <a:off x="8942832" y="164592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4708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0" y="1810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 aloud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144000" y="23042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Campus places and directions read out, with step-free routes.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144000" y="320040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44000" y="320040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28" name="access4"/>
          <p:cNvSpPr/>
          <p:nvPr/>
        </p:nvSpPr>
        <p:spPr>
          <a:xfrm>
            <a:off x="548640" y="37490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95020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07008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Free, legal books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49808" y="4407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 textbooks and practice for school, the university library for every module.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49808" y="53035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49808" y="53035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34" name="access5"/>
          <p:cNvSpPr/>
          <p:nvPr/>
        </p:nvSpPr>
        <p:spPr>
          <a:xfrm>
            <a:off x="3346704" y="37490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3950208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005072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Accessible by design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3547872" y="4407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WCAG 2.2 AA, every journey tested with axe, from a 360 px phone up, reduced motion.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3547872" y="53035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3547872" y="53035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40" name="access6"/>
          <p:cNvSpPr/>
          <p:nvPr/>
        </p:nvSpPr>
        <p:spPr>
          <a:xfrm>
            <a:off x="6144768" y="37490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3950208"/>
            <a:ext cx="329184" cy="32918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803136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languages in a crisis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6345936" y="4407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Crisis words recognised in isiZulu, isiXhosa, Sesotho, Setswana and Afrikaans.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6345936" y="53035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345936" y="53035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46" name="access7"/>
          <p:cNvSpPr/>
          <p:nvPr/>
        </p:nvSpPr>
        <p:spPr>
          <a:xfrm>
            <a:off x="8942832" y="3749040"/>
            <a:ext cx="2651760" cy="1920240"/>
          </a:xfrm>
          <a:prstGeom prst="roundRect">
            <a:avLst>
              <a:gd name="adj" fmla="val 5714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3950208"/>
            <a:ext cx="329184" cy="329184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9601200" y="3913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for learners</a:t>
            </a:r>
            <a:endParaRPr lang="en-US" sz="1400" dirty="0"/>
          </a:p>
        </p:txBody>
      </p:sp>
      <p:sp>
        <p:nvSpPr>
          <p:cNvPr id="49" name="Text 39"/>
          <p:cNvSpPr txBox="1"/>
          <p:nvPr/>
        </p:nvSpPr>
        <p:spPr>
          <a:xfrm>
            <a:off x="9144000" y="44074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fee, no adverts, nothing sold. The payers are those who gain when learners finish.</a:t>
            </a:r>
            <a:endParaRPr lang="en-US" sz="1200" dirty="0"/>
          </a:p>
        </p:txBody>
      </p:sp>
      <p:sp>
        <p:nvSpPr>
          <p:cNvPr id="50" name="Shape 40"/>
          <p:cNvSpPr/>
          <p:nvPr/>
        </p:nvSpPr>
        <p:spPr>
          <a:xfrm>
            <a:off x="9144000" y="5303520"/>
            <a:ext cx="662940" cy="237744"/>
          </a:xfrm>
          <a:prstGeom prst="roundRect">
            <a:avLst>
              <a:gd name="adj" fmla="val 500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9144000" y="5303520"/>
            <a:ext cx="662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ADE8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i="1" dirty="0">
                <a:solidFill>
                  <a:srgbClr val="3A2B3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and WhatsApp run on stand-ins until a provider is chosen. Crisis phrases await first-language review.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19  ·  UNDER THE HOOD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4" name="arch0.61.75"/>
          <p:cNvSpPr/>
          <p:nvPr/>
        </p:nvSpPr>
        <p:spPr>
          <a:xfrm>
            <a:off x="548640" y="16002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Web app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116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Next.js 16, installable, any browser</a:t>
            </a:r>
            <a:endParaRPr lang="en-US" sz="1100" dirty="0"/>
          </a:p>
        </p:txBody>
      </p:sp>
      <p:sp>
        <p:nvSpPr>
          <p:cNvPr id="7" name="arch3.651.75"/>
          <p:cNvSpPr/>
          <p:nvPr/>
        </p:nvSpPr>
        <p:spPr>
          <a:xfrm>
            <a:off x="3337560" y="16002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02152" y="1691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Phone app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0116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Expo: Android and iOS, one codebase</a:t>
            </a:r>
            <a:endParaRPr lang="en-US" sz="1100" dirty="0"/>
          </a:p>
        </p:txBody>
      </p:sp>
      <p:sp>
        <p:nvSpPr>
          <p:cNvPr id="10" name="arch6.71.75"/>
          <p:cNvSpPr/>
          <p:nvPr/>
        </p:nvSpPr>
        <p:spPr>
          <a:xfrm>
            <a:off x="6126480" y="160020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1072" y="1691640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 and WhatsApp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2011680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Reminders, replies, STOP honoured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arch0.63.05"/>
          <p:cNvSpPr/>
          <p:nvPr/>
        </p:nvSpPr>
        <p:spPr>
          <a:xfrm>
            <a:off x="548640" y="2788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211F25"/>
          </a:solidFill>
          <a:ln w="12700">
            <a:solidFill>
              <a:srgbClr val="211F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2880360"/>
            <a:ext cx="7900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 on Vercel, Cape Town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200400"/>
            <a:ext cx="7900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Sign-in by phone PIN · guardian consent gate · rate limits · security headers. The app never holds a key or calls the AI.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3538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arch0.64.2"/>
          <p:cNvSpPr/>
          <p:nvPr/>
        </p:nvSpPr>
        <p:spPr>
          <a:xfrm>
            <a:off x="548640" y="38404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7161A"/>
          </a:solidFill>
          <a:ln w="19050">
            <a:solidFill>
              <a:srgbClr val="C99B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93192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 decides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4251960"/>
            <a:ext cx="3694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admissions: scores, verdicts, What I need, mark maths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catalogue: every record with source, year, checked by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messaging · documents (each mark confirmed) · planner</a:t>
            </a:r>
            <a:endParaRPr lang="en-US" sz="1100" dirty="0"/>
          </a:p>
        </p:txBody>
      </p:sp>
      <p:sp>
        <p:nvSpPr>
          <p:cNvPr id="21" name="arch5.24.2"/>
          <p:cNvSpPr/>
          <p:nvPr/>
        </p:nvSpPr>
        <p:spPr>
          <a:xfrm>
            <a:off x="4754880" y="38404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17161A"/>
          </a:solidFill>
          <a:ln w="19050">
            <a:solidFill>
              <a:srgbClr val="C99BB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3931920"/>
            <a:ext cx="3694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AI explains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19472" y="4251960"/>
            <a:ext cx="36941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crisis check first, then the model behind an interface (Claude; Gemini on the demo only), 18 tools, the care charter. Red team: over 450 cases, 100%.</a:t>
            </a:r>
            <a:endParaRPr lang="en-US" sz="1100" dirty="0"/>
          </a:p>
        </p:txBody>
      </p:sp>
      <p:sp>
        <p:nvSpPr>
          <p:cNvPr id="24" name="arch9.851.75"/>
          <p:cNvSpPr/>
          <p:nvPr/>
        </p:nvSpPr>
        <p:spPr>
          <a:xfrm>
            <a:off x="9006840" y="160020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211F25"/>
          </a:solidFill>
          <a:ln w="12700">
            <a:solidFill>
              <a:srgbClr val="211F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1432" y="16916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Data, in South Africa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71432" y="2011680"/>
            <a:ext cx="22768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Postgres and file storage in AWS Cape Town (af-south-1). Row-level security. IDs only in logs. The demo: made-up learners only.</a:t>
            </a:r>
            <a:endParaRPr lang="en-US" sz="1100" dirty="0"/>
          </a:p>
        </p:txBody>
      </p:sp>
      <p:sp>
        <p:nvSpPr>
          <p:cNvPr id="27" name="arch9.854"/>
          <p:cNvSpPr/>
          <p:nvPr/>
        </p:nvSpPr>
        <p:spPr>
          <a:xfrm>
            <a:off x="9006840" y="3657600"/>
            <a:ext cx="2606040" cy="1783080"/>
          </a:xfrm>
          <a:prstGeom prst="roundRect">
            <a:avLst>
              <a:gd name="adj" fmla="val 6154"/>
            </a:avLst>
          </a:prstGeom>
          <a:solidFill>
            <a:srgbClr val="211F25"/>
          </a:solidFill>
          <a:ln w="12700">
            <a:solidFill>
              <a:srgbClr val="211F2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71432" y="3749040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provider swappable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71432" y="4069080"/>
            <a:ext cx="22768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AI, SMS, WhatsApp, push, voice, CV (Mmereko), jobs, errors: each behind an interface, with a fake and contract tests.</a:t>
            </a:r>
            <a:endParaRPr lang="en-US" sz="1100" dirty="0"/>
          </a:p>
        </p:txBody>
      </p:sp>
      <p:sp>
        <p:nvSpPr>
          <p:cNvPr id="30" name="archBar"/>
          <p:cNvSpPr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C99BB8"/>
          </a:solidFill>
          <a:ln w="12700">
            <a:solidFill>
              <a:srgbClr val="C99B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TypeScript monorepo · over 5 000 automated tests · guards in CI · 13 audit types per phase · E2E with axe on a production build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20  ·  WHAT WE SHOW TODAY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Live demo: six made-up learners, one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331720"/>
            <a:ext cx="12191695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0" y="26289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3774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Thabo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subjects: swap a subject and see which courses it opens or closes.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468880" y="23774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688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Naledi</a:t>
            </a:r>
            <a:endParaRPr lang="en-US" sz="1900" dirty="0"/>
          </a:p>
        </p:txBody>
      </p:sp>
      <p:sp>
        <p:nvSpPr>
          <p:cNvPr id="39" name="Text 37"/>
          <p:cNvSpPr txBox="1"/>
          <p:nvPr/>
        </p:nvSpPr>
        <p:spPr>
          <a:xfrm>
            <a:off x="242316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11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42316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results, then What I need for the course she wants.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343400" y="23774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43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Amahle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429768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Grade 12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29768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Applications and their checklists, then Funding for NSFAS.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23774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17220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Lerato</a:t>
            </a:r>
            <a:endParaRPr lang="en-US" sz="1900" dirty="0"/>
          </a:p>
        </p:txBody>
      </p:sp>
      <p:sp>
        <p:nvSpPr>
          <p:cNvPr id="49" name="Text 47"/>
          <p:cNvSpPr txBox="1"/>
          <p:nvPr/>
        </p:nvSpPr>
        <p:spPr>
          <a:xfrm>
            <a:off x="617220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First year, UJ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17220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First week: tick a step, then the campus tour.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092440" y="23774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0924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04672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Sipho</a:t>
            </a:r>
            <a:endParaRPr lang="en-US" sz="1900" dirty="0"/>
          </a:p>
        </p:txBody>
      </p:sp>
      <p:sp>
        <p:nvSpPr>
          <p:cNvPr id="54" name="Text 52"/>
          <p:cNvSpPr txBox="1"/>
          <p:nvPr/>
        </p:nvSpPr>
        <p:spPr>
          <a:xfrm>
            <a:off x="804672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Second year, Wits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04672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modules, then ask the chat how to find a place.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966960" y="2377440"/>
            <a:ext cx="548640" cy="54864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966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9921240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Kagiso</a:t>
            </a:r>
            <a:endParaRPr lang="en-US" sz="1900" dirty="0"/>
          </a:p>
        </p:txBody>
      </p:sp>
      <p:sp>
        <p:nvSpPr>
          <p:cNvPr id="59" name="Text 57"/>
          <p:cNvSpPr txBox="1"/>
          <p:nvPr/>
        </p:nvSpPr>
        <p:spPr>
          <a:xfrm>
            <a:off x="9921240" y="1984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Final year, UCT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9921240" y="31546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campus tour, then what's coming next.</a:t>
            </a:r>
            <a:endParaRPr lang="en-US" sz="1300" dirty="0"/>
          </a:p>
        </p:txBody>
      </p:sp>
      <p:sp>
        <p:nvSpPr>
          <p:cNvPr id="61" name="demoNote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62" name="Image 0" descr="QR code for universityflow.tumoolo.tech/de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36008"/>
            <a:ext cx="1152144" cy="1152144"/>
          </a:xfrm>
          <a:prstGeom prst="rect">
            <a:avLst/>
          </a:prstGeom>
        </p:spPr>
      </p:pic>
      <p:sp>
        <p:nvSpPr>
          <p:cNvPr id="63" name="Text 60"/>
          <p:cNvSpPr txBox="1"/>
          <p:nvPr/>
        </p:nvSpPr>
        <p:spPr>
          <a:xfrm>
            <a:off x="210312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universityflow.tumoolo.tech/demo</a:t>
            </a:r>
            <a:endParaRPr lang="en-US" sz="1800" dirty="0"/>
          </a:p>
        </p:txBody>
      </p:sp>
      <p:sp>
        <p:nvSpPr>
          <p:cNvPr id="64" name="Text 61"/>
          <p:cNvSpPr txBox="1"/>
          <p:nvPr/>
        </p:nvSpPr>
        <p:spPr>
          <a:xfrm>
            <a:off x="6949440" y="47000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PASSWORD NEEDED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2103120" y="5047488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Press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Try as Naledi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(or any learner): a private copy, deleted after 24 hours. Or </a:t>
            </a:r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 up as a new learner</a:t>
            </a:r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with any 080 number: the PIN shows on screen. University facts are drafts, labelled "Not yet verified". The chat is the real AI, with every safety check 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21  ·  BUILT THIS WEEKEND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56 changes shipped from 23 to 25 October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56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pull requests merged during the hackathon, each through the full test gate before it went live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Before the weekend: Phases 0 to 5 (the school years to arrival) were built and audited, September to October 2026.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7007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617720" y="1645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judge demo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645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Six made-up learners, a private copy each, a three-minute guide, live on universityflow.tumoolo.tech.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042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2494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Sign up as a new learner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269480" y="224942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real sign-up journey on made-up details: PIN and guardian link on screen.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90779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6: semester setup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28529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marks work, the module outline, module cards and the mark calculator, free books.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112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17720" y="34564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 TVET colleges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7269480" y="34564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public college in Plan B, and "Is this college registered?"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1148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17720" y="4059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CV and plan maps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7269480" y="40599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first CV (with Mmereko, behind a switch); plan maps you pan, zoom and tick off.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4718304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17720" y="4663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second AI model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7269480" y="46634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Gemini beside Claude; every reply records which model wrote it.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532180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617720" y="52669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Safer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269480" y="52669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 Critical framework advisories patched; two crisis gaps closed, each with a failing test first.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the repository history, 23 to 25 October 2026: pull requests #81 to #138, not counting automated dependency updates and one empty merge.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22  ·  TRUST BY DESIGN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for children's data</a:t>
            </a:r>
            <a:endParaRPr lang="en-US" sz="3200" dirty="0"/>
          </a:p>
        </p:txBody>
      </p:sp>
      <p:pic>
        <p:nvPicPr>
          <p:cNvPr id="4" name="Image 0" descr="A girl reading a book in a librar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rust0"/>
          <p:cNvSpPr/>
          <p:nvPr/>
        </p:nvSpPr>
        <p:spPr>
          <a:xfrm>
            <a:off x="4754880" y="169164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92808"/>
            <a:ext cx="310896" cy="310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94960" y="1865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stays in South Africa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956048" y="22951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Real learners' data in AWS Cape Town (af-south-1). The demo holds made-up learners only.</a:t>
            </a:r>
            <a:endParaRPr lang="en-US" sz="1200" dirty="0"/>
          </a:p>
        </p:txBody>
      </p:sp>
      <p:sp>
        <p:nvSpPr>
          <p:cNvPr id="9" name="trust1"/>
          <p:cNvSpPr/>
          <p:nvPr/>
        </p:nvSpPr>
        <p:spPr>
          <a:xfrm>
            <a:off x="8275320" y="169164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89280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15400" y="1865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Guardian consent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8476488" y="229514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Nothing about an under-18 is processed before a guardian's consent is recorded, in the database.</a:t>
            </a:r>
            <a:endParaRPr lang="en-US" sz="1200" dirty="0"/>
          </a:p>
        </p:txBody>
      </p:sp>
      <p:sp>
        <p:nvSpPr>
          <p:cNvPr id="13" name="trust2"/>
          <p:cNvSpPr/>
          <p:nvPr/>
        </p:nvSpPr>
        <p:spPr>
          <a:xfrm>
            <a:off x="4754880" y="310896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1012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94960" y="32826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 decides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4956048" y="37124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Requirements, deadlines and scores only from checked records. The AI never works them out.</a:t>
            </a:r>
            <a:endParaRPr lang="en-US" sz="1200" dirty="0"/>
          </a:p>
        </p:txBody>
      </p:sp>
      <p:sp>
        <p:nvSpPr>
          <p:cNvPr id="17" name="trust3"/>
          <p:cNvSpPr/>
          <p:nvPr/>
        </p:nvSpPr>
        <p:spPr>
          <a:xfrm>
            <a:off x="8275320" y="310896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3310128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15400" y="32826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Never their password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8476488" y="37124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We never log into a university system as a learner. A student number is profile data.</a:t>
            </a:r>
            <a:endParaRPr lang="en-US" sz="1200" dirty="0"/>
          </a:p>
        </p:txBody>
      </p:sp>
      <p:sp>
        <p:nvSpPr>
          <p:cNvPr id="21" name="trust4"/>
          <p:cNvSpPr/>
          <p:nvPr/>
        </p:nvSpPr>
        <p:spPr>
          <a:xfrm>
            <a:off x="4754880" y="452628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472744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94960" y="4700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POPIA by design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4956048" y="51297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IDs only in logs and jobs. Learners confirm every mark read from a document.</a:t>
            </a:r>
            <a:endParaRPr lang="en-US" sz="1200" dirty="0"/>
          </a:p>
        </p:txBody>
      </p:sp>
      <p:sp>
        <p:nvSpPr>
          <p:cNvPr id="25" name="trust5"/>
          <p:cNvSpPr/>
          <p:nvPr/>
        </p:nvSpPr>
        <p:spPr>
          <a:xfrm>
            <a:off x="8275320" y="4526280"/>
            <a:ext cx="3383280" cy="1280160"/>
          </a:xfrm>
          <a:prstGeom prst="roundRect">
            <a:avLst>
              <a:gd name="adj" fmla="val 8571"/>
            </a:avLst>
          </a:prstGeom>
          <a:solidFill>
            <a:srgbClr val="0E0D10"/>
          </a:solidFill>
          <a:ln w="12700">
            <a:solidFill>
              <a:srgbClr val="0E0D10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4727448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915400" y="4700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Care first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8476488" y="512978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crisis check on every message, a 100% red-team suite, a human route always.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23  ·  WHO PAYS, AND WHY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for learners, paid for by those who gain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R0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for learners, always. The people who lose money when a student drops out pay instead.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One NSFAS-funded student costs about R80 600 a year (R47.86 billion for 593 543 students in 2025). Keep one learner in 200 from dropping out, and the sponsorship for all 200 has paid for itself.</a:t>
            </a:r>
            <a:endParaRPr lang="en-US" sz="1400" dirty="0"/>
          </a:p>
        </p:txBody>
      </p:sp>
      <p:pic>
        <p:nvPicPr>
          <p:cNvPr id="7" name="Image 0" descr="NSFAS-funded university students: 509 978 in 2023, 561 130 in 2024, 593 543 in 202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26280"/>
            <a:ext cx="4754880" cy="1371600"/>
          </a:xfrm>
          <a:prstGeom prst="rect">
            <a:avLst/>
          </a:prstGeom>
        </p:spPr>
      </p:pic>
      <p:sp>
        <p:nvSpPr>
          <p:cNvPr id="8" name="payer0"/>
          <p:cNvSpPr/>
          <p:nvPr/>
        </p:nvSpPr>
        <p:spPr>
          <a:xfrm>
            <a:off x="5669280" y="1600200"/>
            <a:ext cx="5943600" cy="960120"/>
          </a:xfrm>
          <a:prstGeom prst="roundRect">
            <a:avLst>
              <a:gd name="adj" fmla="val 11429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87452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46520" y="16916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Sponsor a learner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732520" y="1691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R420 a year each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R35 a month, paid by companies (CSI and B-BBEE), bursary funders and SETAs. Anonymous impact reports.</a:t>
            </a:r>
            <a:endParaRPr lang="en-US" sz="1200" dirty="0"/>
          </a:p>
        </p:txBody>
      </p:sp>
      <p:sp>
        <p:nvSpPr>
          <p:cNvPr id="13" name="payer1"/>
          <p:cNvSpPr/>
          <p:nvPr/>
        </p:nvSpPr>
        <p:spPr>
          <a:xfrm>
            <a:off x="5669280" y="2670048"/>
            <a:ext cx="5943600" cy="960120"/>
          </a:xfrm>
          <a:prstGeom prst="roundRect">
            <a:avLst>
              <a:gd name="adj" fmla="val 11429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94436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46520" y="27614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Schools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732520" y="27614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R6 000 a year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127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 fee-paying school, Grades 10 to 12. No-fee schools are free, sponsored.</a:t>
            </a:r>
            <a:endParaRPr lang="en-US" sz="1200" dirty="0"/>
          </a:p>
        </p:txBody>
      </p:sp>
      <p:sp>
        <p:nvSpPr>
          <p:cNvPr id="18" name="payer2"/>
          <p:cNvSpPr/>
          <p:nvPr/>
        </p:nvSpPr>
        <p:spPr>
          <a:xfrm>
            <a:off x="5669280" y="3739896"/>
            <a:ext cx="5943600" cy="960120"/>
          </a:xfrm>
          <a:prstGeom prst="roundRect">
            <a:avLst>
              <a:gd name="adj" fmla="val 11429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401421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46520" y="3831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Universities, from 2028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732520" y="3831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R250 000 a year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1970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 university: first-year arrival, registration check, study coach. A pilot at R100 000.</a:t>
            </a:r>
            <a:endParaRPr lang="en-US" sz="1200" dirty="0"/>
          </a:p>
        </p:txBody>
      </p:sp>
      <p:sp>
        <p:nvSpPr>
          <p:cNvPr id="23" name="payer3"/>
          <p:cNvSpPr/>
          <p:nvPr/>
        </p:nvSpPr>
        <p:spPr>
          <a:xfrm>
            <a:off x="5669280" y="4809744"/>
            <a:ext cx="5943600" cy="960120"/>
          </a:xfrm>
          <a:prstGeom prst="roundRect">
            <a:avLst>
              <a:gd name="adj" fmla="val 11429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508406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46520" y="49011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Employers, from 2029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732520" y="49011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R2 500 a month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46520" y="52669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Reach graduates who chose to share their CV (18 and over only).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R80 600 is our arithmetic on the Minister's reply to Parliament (NW874, 2026). Prices are UniversityFlow's proposal (25 Oct 2026); no payer has signed yet.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24  ·  WHAT IT COSTS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About R10.50 a learner a month to 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 ACTIVE LEARNER, PER MONTH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chat: 30 replies (Claude Sonnet 5.5, cached)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011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R7.50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77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Reading a school report (Claude Opus 5.5)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377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R0.35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SMS: sign-in PINs and reminders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743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R1.20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WhatsApp: 10 utility messages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108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R1.20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Hosting, per learner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R0.25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120640" cy="0"/>
          </a:xfrm>
          <a:prstGeom prst="line">
            <a:avLst/>
          </a:prstGeom>
          <a:noFill/>
          <a:ln w="12700">
            <a:solidFill>
              <a:srgbClr val="7872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Variable cost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R10.50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645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FIXED, PER MONTH (YEAR 1)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Hosting and database, Cape Town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0" y="20116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R2 000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WhatsApp provider, monitoring, jobs, voice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23774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R4 800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432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Legal and POPIA, fact checkers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27432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R11 000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108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 stores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3108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R150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474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Team: founder and a part-time developer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R45 000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886200"/>
            <a:ext cx="5303520" cy="0"/>
          </a:xfrm>
          <a:prstGeom prst="line">
            <a:avLst/>
          </a:prstGeom>
          <a:noFill/>
          <a:ln w="12700">
            <a:solidFill>
              <a:srgbClr val="78727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0936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Fixed cost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about R63 000</a:t>
            </a:r>
            <a:endParaRPr lang="en-US" sz="1400" dirty="0"/>
          </a:p>
        </p:txBody>
      </p:sp>
      <p:sp>
        <p:nvSpPr>
          <p:cNvPr id="32" name="unit0"/>
          <p:cNvSpPr/>
          <p:nvPr/>
        </p:nvSpPr>
        <p:spPr>
          <a:xfrm>
            <a:off x="548640" y="45262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590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R24.50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138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margin a month on each sponsored learner (R35 less R10.50)</a:t>
            </a:r>
            <a:endParaRPr lang="en-US" sz="1200" dirty="0"/>
          </a:p>
        </p:txBody>
      </p:sp>
      <p:sp>
        <p:nvSpPr>
          <p:cNvPr id="35" name="unit1"/>
          <p:cNvSpPr/>
          <p:nvPr/>
        </p:nvSpPr>
        <p:spPr>
          <a:xfrm>
            <a:off x="4297680" y="45262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26280" y="4590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2 600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4526280" y="5138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sponsored learners to break even</a:t>
            </a:r>
            <a:endParaRPr lang="en-US" sz="1200" dirty="0"/>
          </a:p>
        </p:txBody>
      </p:sp>
      <p:sp>
        <p:nvSpPr>
          <p:cNvPr id="38" name="unit2"/>
          <p:cNvSpPr/>
          <p:nvPr/>
        </p:nvSpPr>
        <p:spPr>
          <a:xfrm>
            <a:off x="8046720" y="452628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17161A"/>
          </a:solidFill>
          <a:ln w="12700">
            <a:solidFill>
              <a:srgbClr val="1716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75320" y="45902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R1.8 m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51389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Year 1 target: 5 000 learners (4 000 sponsored) and 20 schools, against about R1.39 m in costs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Estimates, 25 Oct 2026, at R18 to the US$. AI: Anthropic list prices with prompt caching; Haiku 5.5 for simple replies would bring the total to about R6. SMS and WhatsApp: plan §7.4. Hosting: docs/deploy/costs.md. Measured once the real AI key runs.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25  ·  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Timed to the first cohort: Grade 11 in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148840"/>
            <a:ext cx="12191695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556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12880" y="2400300"/>
            <a:ext cx="274320" cy="45720"/>
          </a:xfrm>
          <a:prstGeom prst="roundRect">
            <a:avLst>
              <a:gd name="adj" fmla="val 50000"/>
            </a:avLst>
          </a:prstGeom>
          <a:solidFill>
            <a:srgbClr val="78727D"/>
          </a:solidFill>
          <a:ln w="12700">
            <a:solidFill>
              <a:srgbClr val="7872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2258568"/>
            <a:ext cx="329184" cy="329184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NOW  ·  OCT 2026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31012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Phases 0 to 5 and most of 6 on stand-ins, tested and audited. The judge demo is live.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07792" y="225856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16352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 2027  ·  MVP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816352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Applications open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2816352" y="331012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Results, applications, funding, for real learners once data, legal and accounts are in.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75504" y="22585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084064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JUN 2027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084064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Exams, app stores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084064" y="331012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WhatsApp, SMS and push live before the June exams.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43216" y="22585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351776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JAN TO FEB 2028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351776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Arrive and set up</a:t>
            </a:r>
            <a:endParaRPr lang="en-US" sz="1700" dirty="0"/>
          </a:p>
        </p:txBody>
      </p:sp>
      <p:sp>
        <p:nvSpPr>
          <p:cNvPr id="46" name="Text 44"/>
          <p:cNvSpPr txBox="1"/>
          <p:nvPr/>
        </p:nvSpPr>
        <p:spPr>
          <a:xfrm>
            <a:off x="7351776" y="331012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Offers, registration, then semester setup (Phase 6).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710928" y="2258568"/>
            <a:ext cx="329184" cy="329184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619488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 TO NOV 2028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19488" y="2880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Coach and portfolio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9619488" y="331012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Study coach (Phase 7), then portfolio and career (Phase 9).</a:t>
            </a:r>
            <a:endParaRPr lang="en-US" sz="1300" dirty="0"/>
          </a:p>
        </p:txBody>
      </p:sp>
      <p:sp>
        <p:nvSpPr>
          <p:cNvPr id="51" name="gates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C99BB8"/>
          </a:solidFill>
          <a:ln w="12700">
            <a:solidFill>
              <a:srgbClr val="C99BB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22960" y="47731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PARTNER GATES  ·  EACH ONLY WITH A SIGNED AGREEMENT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H1 2027: apply with UniversityFlow at one university (UJ first).   H2 Jan 2028: official NSC results with the DBE.   H3 2028: NSFAS and bursary funders accept pre-filled applications.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75488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219"/>
                </a:solidFill>
              </a:rPr>
              <a:t>THE DESTINATION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754880" y="658368"/>
            <a:ext cx="68881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learner who finishes</a:t>
            </a:r>
            <a:endParaRPr lang="en-US" sz="3200" dirty="0"/>
          </a:p>
        </p:txBody>
      </p:sp>
      <p:pic>
        <p:nvPicPr>
          <p:cNvPr id="4" name="Image 0" descr="A graduate seen from behind, holding her cap up in front of a columned build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691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ask: help us open UniversityFlow to real learners by March 2027.</a:t>
            </a:r>
            <a:endParaRPr lang="en-US" sz="2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743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166360" y="271576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People to verify the university data (86 programmes, six universities)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18688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166360" y="319125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legal review of consent for under-18s (POPIA)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9417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166360" y="366674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 SMS and WhatsApp provider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69664"/>
            <a:ext cx="274320" cy="27432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166360" y="414223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Hosting in AWS Cape Town (af-south-1) for learners' data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645152"/>
            <a:ext cx="274320" cy="27432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166360" y="461772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first university partner, and bursary funders</a:t>
            </a:r>
            <a:endParaRPr lang="en-US" sz="1500" dirty="0"/>
          </a:p>
        </p:txBody>
      </p:sp>
      <p:sp>
        <p:nvSpPr>
          <p:cNvPr id="16" name="Shape 8"/>
          <p:cNvSpPr/>
          <p:nvPr/>
        </p:nvSpPr>
        <p:spPr>
          <a:xfrm>
            <a:off x="47548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52120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56692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1264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5836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0408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74980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552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84124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8696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3268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7840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102412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106984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1155680" y="5321808"/>
            <a:ext cx="292608" cy="54864"/>
          </a:xfrm>
          <a:prstGeom prst="roundRect">
            <a:avLst>
              <a:gd name="adj" fmla="val 50000"/>
            </a:avLst>
          </a:prstGeom>
          <a:solidFill>
            <a:srgbClr val="1A1219"/>
          </a:solidFill>
          <a:ln w="12700">
            <a:solidFill>
              <a:srgbClr val="1A1219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754880" y="5486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University</a:t>
            </a:r>
            <a:pPr indent="0" marL="0">
              <a:buNone/>
            </a:pPr>
            <a:r>
              <a:rPr lang="en-US" sz="3600" b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Flow</a:t>
            </a:r>
            <a:endParaRPr lang="en-US" sz="3600" dirty="0"/>
          </a:p>
        </p:txBody>
      </p:sp>
      <p:sp>
        <p:nvSpPr>
          <p:cNvPr id="32" name="Text 24"/>
          <p:cNvSpPr txBox="1"/>
          <p:nvPr/>
        </p:nvSpPr>
        <p:spPr>
          <a:xfrm>
            <a:off x="8686800" y="5596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121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From Grade 10 to graduation.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2B3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  DBE, 2025 NSC Examination Report (Tables 1, 2, 2.1, 3, 6.3.8), 2026. education.gov.za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  DBE, 2024 NSC Examination Report (Tables 1, 6.1.4, 6.3.3; Figure 2), 2025. education.gov.za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3.  DBE, NSC Examination Report 2021 (Tables 2, 6.2.1, 6.3.9), 2022. education.gov.za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4.  DHET, 2000 to 2019 First Time Entering Undergraduate Cohort Studies for Public HEIs, 22 Feb 2022, Table 28. dhet.gov.za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5.  Minister of Higher Education, written reply to question NW874 (NSFAS funding 2023 to 2025), 2026. pmg.org.za/committee-question/37471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  NSFAS household income criteria, as published by Rhodes University (ru.ac.za/registrar/nsfas); NSFAS's own site could not be reached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7.  Stats SA, Quarterly Labour Force Survey Q2 2026, media release and presentation, 11 Aug 2026. statssa.gov.za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8.  UniversityFlow plan (planning.md §0, §1, §2, §7, §10, §11, §19) and status (status.md, 24 Oct 2026), in the repository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9.  Built behaviour: packages/messaging (cadence.ts), packages/agent (crisis.ts, charter.ts, system-prompt.ts), packages/content (messages.ts)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10.  Screens: the live judge demo, universityflow.tumoolo.tech, made-up learners, captured 25 Oct 2026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11.  Costs: Anthropic list prices (Oct 2026); docs/deploy/costs.md (hosting, checked 23 Oct 2026); plan §7.4 (SMS, WhatsApp). Estimates at R18 to the US dollar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12.  Full list with exact URLs, numbers and image credits: pitch/README.md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versityFlow">
  <a:themeElements>
    <a:clrScheme name="UniversityFlow">
      <a:dk1>
        <a:srgbClr val="0E0D10"/>
      </a:dk1>
      <a:lt1>
        <a:srgbClr val="F4F2F5"/>
      </a:lt1>
      <a:dk2>
        <a:srgbClr val="17161A"/>
      </a:dk2>
      <a:lt2>
        <a:srgbClr val="E2DEE4"/>
      </a:lt2>
      <a:accent1>
        <a:srgbClr val="C99BB8"/>
      </a:accent1>
      <a:accent2>
        <a:srgbClr val="E9B8D4"/>
      </a:accent2>
      <a:accent3>
        <a:srgbClr val="B9B4BC"/>
      </a:accent3>
      <a:accent4>
        <a:srgbClr val="211F25"/>
      </a:accent4>
      <a:accent5>
        <a:srgbClr val="4ADE80"/>
      </a:accent5>
      <a:accent6>
        <a:srgbClr val="FF8A80"/>
      </a:accent6>
      <a:hlink>
        <a:srgbClr val="E9B8D4"/>
      </a:hlink>
      <a:folHlink>
        <a:srgbClr val="C99BB8"/>
      </a:folHlink>
    </a:clrScheme>
    <a:fontScheme name="UniversityFlow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Tumoolo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UniversityFlow: FNB Hackathon 2026</dc:title>
  <dc:subject>PptxGenJS Presentation</dc:subject>
  <dc:creator>Tumo Mogame, Tumoolo</dc:creator>
  <cp:lastModifiedBy>Tumo Mogame, Tumoolo</cp:lastModifiedBy>
  <cp:revision>1</cp:revision>
  <dcterms:created xsi:type="dcterms:W3CDTF">2026-10-25T00:03:01Z</dcterms:created>
  <dcterms:modified xsi:type="dcterms:W3CDTF">2026-10-25T00:03:01Z</dcterms:modified>
</cp:coreProperties>
</file>